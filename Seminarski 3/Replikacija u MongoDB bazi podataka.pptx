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66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954" autoAdjust="0"/>
  </p:normalViewPr>
  <p:slideViewPr>
    <p:cSldViewPr snapToGrid="0">
      <p:cViewPr varScale="1">
        <p:scale>
          <a:sx n="77" d="100"/>
          <a:sy n="77" d="100"/>
        </p:scale>
        <p:origin x="91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B20069-FFD2-4D56-8948-E3351FB284E8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9DA96E-FA07-4CF5-81E8-A72E44D40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236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DA96E-FA07-4CF5-81E8-A72E44D4027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820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DA96E-FA07-4CF5-81E8-A72E44D4027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512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DA96E-FA07-4CF5-81E8-A72E44D4027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3451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DA96E-FA07-4CF5-81E8-A72E44D4027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8979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DA96E-FA07-4CF5-81E8-A72E44D4027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1562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DA96E-FA07-4CF5-81E8-A72E44D4027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5249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DA96E-FA07-4CF5-81E8-A72E44D4027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4741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DA96E-FA07-4CF5-81E8-A72E44D4027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0060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DA96E-FA07-4CF5-81E8-A72E44D4027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5763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DA96E-FA07-4CF5-81E8-A72E44D4027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8603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DA96E-FA07-4CF5-81E8-A72E44D4027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0639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9DA96E-FA07-4CF5-81E8-A72E44D4027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849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6539-9D5C-4CD9-8488-157E75971E7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16698DC-EACF-4B79-B29F-74143380C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914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6539-9D5C-4CD9-8488-157E75971E7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698DC-EACF-4B79-B29F-74143380C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404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6539-9D5C-4CD9-8488-157E75971E7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16698DC-EACF-4B79-B29F-74143380C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61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6539-9D5C-4CD9-8488-157E75971E7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16698DC-EACF-4B79-B29F-74143380C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247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6539-9D5C-4CD9-8488-157E75971E7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16698DC-EACF-4B79-B29F-74143380C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59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6539-9D5C-4CD9-8488-157E75971E7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698DC-EACF-4B79-B29F-74143380C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171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6539-9D5C-4CD9-8488-157E75971E7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698DC-EACF-4B79-B29F-74143380C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596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6539-9D5C-4CD9-8488-157E75971E7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698DC-EACF-4B79-B29F-74143380C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128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6539-9D5C-4CD9-8488-157E75971E7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16698DC-EACF-4B79-B29F-74143380C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127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6539-9D5C-4CD9-8488-157E75971E7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16698DC-EACF-4B79-B29F-74143380C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845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6539-9D5C-4CD9-8488-157E75971E7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16698DC-EACF-4B79-B29F-74143380CD1A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878421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6539-9D5C-4CD9-8488-157E75971E7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16698DC-EACF-4B79-B29F-74143380C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7547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6539-9D5C-4CD9-8488-157E75971E7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16698DC-EACF-4B79-B29F-74143380CD1A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1552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6539-9D5C-4CD9-8488-157E75971E7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16698DC-EACF-4B79-B29F-74143380C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4574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6539-9D5C-4CD9-8488-157E75971E7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698DC-EACF-4B79-B29F-74143380C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4488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6539-9D5C-4CD9-8488-157E75971E7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698DC-EACF-4B79-B29F-74143380C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963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426539-9D5C-4CD9-8488-157E75971E7D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16698DC-EACF-4B79-B29F-74143380C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881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F6DB0-8D16-0F6E-1F10-67C82A318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26225" y="1166219"/>
            <a:ext cx="8915399" cy="2262781"/>
          </a:xfrm>
        </p:spPr>
        <p:txBody>
          <a:bodyPr/>
          <a:lstStyle/>
          <a:p>
            <a:r>
              <a:rPr lang="sr-Latn-RS" noProof="1"/>
              <a:t>Replikacija podataka u MongoDB bazi podataka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391C0-BEE0-1E0D-C467-3840250869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9353" y="4777379"/>
            <a:ext cx="9745260" cy="1126283"/>
          </a:xfrm>
        </p:spPr>
        <p:txBody>
          <a:bodyPr>
            <a:normAutofit lnSpcReduction="10000"/>
          </a:bodyPr>
          <a:lstStyle/>
          <a:p>
            <a:endParaRPr lang="sr-Latn-RS" noProof="1"/>
          </a:p>
          <a:p>
            <a:r>
              <a:rPr lang="sr-Latn-RS" noProof="1"/>
              <a:t>Anastasija Vasić, 1848</a:t>
            </a:r>
          </a:p>
          <a:p>
            <a:r>
              <a:rPr lang="sr-Latn-RS" noProof="1"/>
              <a:t>Sistemi za upravljanje bazama podataka</a:t>
            </a:r>
          </a:p>
        </p:txBody>
      </p:sp>
    </p:spTree>
    <p:extLst>
      <p:ext uri="{BB962C8B-B14F-4D97-AF65-F5344CB8AC3E}">
        <p14:creationId xmlns:p14="http://schemas.microsoft.com/office/powerpoint/2010/main" val="1535363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34BF2-365A-05AE-7FFE-96F25D784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9" y="624110"/>
            <a:ext cx="10817224" cy="1280890"/>
          </a:xfrm>
        </p:spPr>
        <p:txBody>
          <a:bodyPr/>
          <a:lstStyle/>
          <a:p>
            <a:pPr algn="ctr"/>
            <a:r>
              <a:rPr lang="sr-Latn-RS" b="1" noProof="1"/>
              <a:t>Uvod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61349-157F-30A9-3C88-210596BBB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3303" y="1669774"/>
            <a:ext cx="10624931" cy="4241448"/>
          </a:xfrm>
        </p:spPr>
        <p:txBody>
          <a:bodyPr>
            <a:normAutofit/>
          </a:bodyPr>
          <a:lstStyle/>
          <a:p>
            <a:r>
              <a:rPr lang="sr-Latn-RS" b="1" noProof="1"/>
              <a:t>Distribuirane baze podataka – </a:t>
            </a:r>
            <a:r>
              <a:rPr lang="sr-Latn-RS" noProof="1"/>
              <a:t>sistemi u kojima su podaci raspodeljeni na više čvorova radi skalabilnosti i pouzdanosti.</a:t>
            </a:r>
          </a:p>
          <a:p>
            <a:r>
              <a:rPr lang="sr-Latn-RS" b="1" noProof="1"/>
              <a:t>Replikacija podataka – </a:t>
            </a:r>
            <a:r>
              <a:rPr lang="sr-Latn-RS" noProof="1"/>
              <a:t>održavanje više kopija istih podataka na različitim serverima uz sinhronizaciju promena.</a:t>
            </a:r>
          </a:p>
          <a:p>
            <a:r>
              <a:rPr lang="sr-Latn-RS" b="1" noProof="1"/>
              <a:t>High Availability (HA) – </a:t>
            </a:r>
            <a:r>
              <a:rPr lang="sr-Latn-RS" noProof="1"/>
              <a:t>sposobnost sistema da ostane operativan i pri otkazu pojedinih komponenti.</a:t>
            </a:r>
          </a:p>
          <a:p>
            <a:r>
              <a:rPr lang="sr-Latn-RS" b="1" noProof="1"/>
              <a:t>CAP teorema – </a:t>
            </a:r>
            <a:r>
              <a:rPr lang="sr-Latn-RS" noProof="1"/>
              <a:t>nemogućnost istovremenog garantovanja konzistentnosti, </a:t>
            </a:r>
          </a:p>
          <a:p>
            <a:pPr marL="0" indent="0">
              <a:buNone/>
            </a:pPr>
            <a:r>
              <a:rPr lang="sr-Latn-RS" noProof="1"/>
              <a:t>      dostupnosti i tolerancije na mrežne podele.</a:t>
            </a:r>
          </a:p>
          <a:p>
            <a:r>
              <a:rPr lang="sr-Latn-RS" b="1" noProof="1"/>
              <a:t>MongoDB Replica Set – </a:t>
            </a:r>
            <a:r>
              <a:rPr lang="sr-Latn-RS" noProof="1"/>
              <a:t>skup više MongoDB instanci sa automatskim </a:t>
            </a:r>
          </a:p>
          <a:p>
            <a:pPr marL="0" indent="0">
              <a:buNone/>
            </a:pPr>
            <a:r>
              <a:rPr lang="sr-Latn-RS" noProof="1"/>
              <a:t>      failover mehanizmom i election procesom.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61E4A7-52D2-FCA0-3132-4534BB507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6698" y="4098611"/>
            <a:ext cx="2347249" cy="260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373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E39BA-A38C-153C-90FD-D8B5EDE5C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7962" y="456470"/>
            <a:ext cx="8911687" cy="1280890"/>
          </a:xfrm>
        </p:spPr>
        <p:txBody>
          <a:bodyPr/>
          <a:lstStyle/>
          <a:p>
            <a:r>
              <a:rPr lang="sr-Latn-RS" noProof="1"/>
              <a:t>Osnovni principi replikacije podataka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D3CE3-533C-45B3-8332-B099F3495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737360"/>
            <a:ext cx="10361612" cy="4173862"/>
          </a:xfrm>
        </p:spPr>
        <p:txBody>
          <a:bodyPr/>
          <a:lstStyle/>
          <a:p>
            <a:r>
              <a:rPr lang="sr-Latn-RS" noProof="1"/>
              <a:t>Replikacija se može sprovoditi na nivou </a:t>
            </a:r>
            <a:r>
              <a:rPr lang="sr-Latn-RS" b="1" noProof="1"/>
              <a:t>fizičkih blokova</a:t>
            </a:r>
            <a:r>
              <a:rPr lang="sr-Latn-RS" noProof="1"/>
              <a:t>, </a:t>
            </a:r>
            <a:r>
              <a:rPr lang="sr-Latn-RS" b="1" noProof="1"/>
              <a:t>logičkih operacija </a:t>
            </a:r>
            <a:r>
              <a:rPr lang="sr-Latn-RS" noProof="1"/>
              <a:t>ili kao </a:t>
            </a:r>
            <a:r>
              <a:rPr lang="sr-Latn-RS" b="1" noProof="1"/>
              <a:t>kombinacija</a:t>
            </a:r>
            <a:r>
              <a:rPr lang="sr-Latn-RS" noProof="1"/>
              <a:t> ova dva pristupa. </a:t>
            </a:r>
          </a:p>
          <a:p>
            <a:r>
              <a:rPr lang="sr-Latn-RS" b="1" noProof="1"/>
              <a:t>Ciljevi replikacije:</a:t>
            </a:r>
            <a:endParaRPr lang="sr-Latn-RS" noProof="1"/>
          </a:p>
          <a:p>
            <a:pPr lvl="1"/>
            <a:r>
              <a:rPr lang="sr-Latn-RS" noProof="1"/>
              <a:t>Visoka dostupnost (High Availability)</a:t>
            </a:r>
          </a:p>
          <a:p>
            <a:pPr lvl="1"/>
            <a:r>
              <a:rPr lang="sr-Latn-RS" noProof="1"/>
              <a:t>Otpornost na otkaze (Fault Tolerance)</a:t>
            </a:r>
          </a:p>
          <a:p>
            <a:pPr lvl="1"/>
            <a:r>
              <a:rPr lang="sr-Latn-RS" noProof="1"/>
              <a:t>Skalabilnost čitanja</a:t>
            </a:r>
          </a:p>
          <a:p>
            <a:pPr lvl="1"/>
            <a:r>
              <a:rPr lang="sr-Latn-RS" noProof="1"/>
              <a:t>Disaster recovery</a:t>
            </a:r>
          </a:p>
          <a:p>
            <a:r>
              <a:rPr lang="sr-Latn-RS" b="1" noProof="1"/>
              <a:t>Modeli konzistentnosti:</a:t>
            </a:r>
            <a:endParaRPr lang="sr-Latn-RS" noProof="1"/>
          </a:p>
          <a:p>
            <a:pPr lvl="1"/>
            <a:r>
              <a:rPr lang="sr-Latn-RS" noProof="1"/>
              <a:t>Strong consistency</a:t>
            </a:r>
          </a:p>
          <a:p>
            <a:pPr lvl="1"/>
            <a:r>
              <a:rPr lang="sr-Latn-RS" noProof="1"/>
              <a:t>Eventual consistency</a:t>
            </a:r>
          </a:p>
          <a:p>
            <a:endParaRPr lang="sr-Latn-RS" noProof="1"/>
          </a:p>
        </p:txBody>
      </p:sp>
    </p:spTree>
    <p:extLst>
      <p:ext uri="{BB962C8B-B14F-4D97-AF65-F5344CB8AC3E}">
        <p14:creationId xmlns:p14="http://schemas.microsoft.com/office/powerpoint/2010/main" val="306626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FAED1-9E46-B0D7-BA18-D0ABEC2F4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835" y="509810"/>
            <a:ext cx="8911687" cy="1280890"/>
          </a:xfrm>
        </p:spPr>
        <p:txBody>
          <a:bodyPr/>
          <a:lstStyle/>
          <a:p>
            <a:pPr algn="ctr"/>
            <a:r>
              <a:rPr lang="sr-Latn-RS" noProof="1"/>
              <a:t>Tipovi replikacije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FB24D-C695-2349-236C-507E34DEF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7330" y="1394460"/>
            <a:ext cx="10007282" cy="5086350"/>
          </a:xfrm>
        </p:spPr>
        <p:txBody>
          <a:bodyPr>
            <a:normAutofit/>
          </a:bodyPr>
          <a:lstStyle/>
          <a:p>
            <a:r>
              <a:rPr lang="sr-Latn-RS" b="1" noProof="1"/>
              <a:t>Prema načinu sinhronizacije:</a:t>
            </a:r>
            <a:endParaRPr lang="sr-Latn-RS" noProof="1"/>
          </a:p>
          <a:p>
            <a:pPr lvl="1"/>
            <a:r>
              <a:rPr lang="sr-Latn-RS" noProof="1"/>
              <a:t>Sinhrona replikacija – potvrda upisa tek nakon potvrde replika</a:t>
            </a:r>
          </a:p>
          <a:p>
            <a:pPr lvl="1"/>
            <a:r>
              <a:rPr lang="sr-Latn-RS" noProof="1"/>
              <a:t>Asinhrona replikacija – primarni čvor potvrđuje upis odmah, a replike naknadno</a:t>
            </a:r>
          </a:p>
          <a:p>
            <a:r>
              <a:rPr lang="sr-Latn-RS" b="1" noProof="1"/>
              <a:t>Prema nivou replikacije:</a:t>
            </a:r>
            <a:endParaRPr lang="sr-Latn-RS" noProof="1"/>
          </a:p>
          <a:p>
            <a:pPr lvl="1"/>
            <a:r>
              <a:rPr lang="sr-Latn-RS" noProof="1"/>
              <a:t>Fizička – prenosi blokove podataka ili logove</a:t>
            </a:r>
          </a:p>
          <a:p>
            <a:pPr lvl="1"/>
            <a:r>
              <a:rPr lang="sr-Latn-RS" noProof="1"/>
              <a:t>Logička – prenosi same operacije nad podacima</a:t>
            </a:r>
          </a:p>
          <a:p>
            <a:r>
              <a:rPr lang="sr-Latn-RS" b="1" noProof="1"/>
              <a:t>Topologija:</a:t>
            </a:r>
            <a:endParaRPr lang="sr-Latn-RS" noProof="1"/>
          </a:p>
          <a:p>
            <a:pPr lvl="1"/>
            <a:r>
              <a:rPr lang="sr-Latn-RS" noProof="1"/>
              <a:t>Master–Slave – postoji jedan primarni čvor za upis</a:t>
            </a:r>
          </a:p>
          <a:p>
            <a:pPr lvl="1"/>
            <a:r>
              <a:rPr lang="sr-Latn-RS" noProof="1"/>
              <a:t>Multi-Master – više čvorova može prihvatati upise</a:t>
            </a:r>
          </a:p>
          <a:p>
            <a:r>
              <a:rPr lang="sr-Latn-RS" b="1" noProof="1"/>
              <a:t>CAP teorema:</a:t>
            </a:r>
            <a:br>
              <a:rPr lang="sr-Latn-RS" noProof="1"/>
            </a:br>
            <a:r>
              <a:rPr lang="sr-Latn-RS" sz="1600" noProof="1"/>
              <a:t>Nije moguće istovremeno garantovati:</a:t>
            </a:r>
            <a:br>
              <a:rPr lang="sr-Latn-RS" sz="1600" noProof="1"/>
            </a:br>
            <a:r>
              <a:rPr lang="sr-Latn-RS" sz="1600" noProof="1"/>
              <a:t>	C – konzistentnost</a:t>
            </a:r>
            <a:br>
              <a:rPr lang="sr-Latn-RS" sz="1600" noProof="1"/>
            </a:br>
            <a:r>
              <a:rPr lang="sr-Latn-RS" sz="1600" noProof="1"/>
              <a:t>	A – dostupnost</a:t>
            </a:r>
            <a:br>
              <a:rPr lang="sr-Latn-RS" sz="1600" noProof="1"/>
            </a:br>
            <a:r>
              <a:rPr lang="sr-Latn-RS" sz="1600" noProof="1"/>
              <a:t>	P – toleranciju na particije</a:t>
            </a:r>
          </a:p>
          <a:p>
            <a:endParaRPr lang="sr-Latn-RS" noProof="1"/>
          </a:p>
        </p:txBody>
      </p:sp>
    </p:spTree>
    <p:extLst>
      <p:ext uri="{BB962C8B-B14F-4D97-AF65-F5344CB8AC3E}">
        <p14:creationId xmlns:p14="http://schemas.microsoft.com/office/powerpoint/2010/main" val="1584570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3437A-7156-A076-116E-46B1EA7EB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916" y="293267"/>
            <a:ext cx="10277696" cy="1280890"/>
          </a:xfrm>
        </p:spPr>
        <p:txBody>
          <a:bodyPr/>
          <a:lstStyle/>
          <a:p>
            <a:pPr algn="ctr"/>
            <a:r>
              <a:rPr lang="sr-Latn-RS" noProof="1"/>
              <a:t>Replikacija u MongoDB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00F96-362C-4E0C-AD04-0CC01E0BE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6915" y="1260467"/>
            <a:ext cx="10637135" cy="4337065"/>
          </a:xfrm>
        </p:spPr>
        <p:txBody>
          <a:bodyPr/>
          <a:lstStyle/>
          <a:p>
            <a:r>
              <a:rPr lang="sr-Latn-RS" b="1" noProof="1"/>
              <a:t>MongoDB Replica Set - </a:t>
            </a:r>
            <a:r>
              <a:rPr lang="sr-Latn-RS" noProof="1"/>
              <a:t>skup više mongod instanci koje održavaju istu kopiju podataka.</a:t>
            </a:r>
          </a:p>
          <a:p>
            <a:r>
              <a:rPr lang="sr-Latn-RS" b="1" noProof="1"/>
              <a:t>Članovi replica seta:</a:t>
            </a:r>
            <a:endParaRPr lang="sr-Latn-RS" noProof="1"/>
          </a:p>
          <a:p>
            <a:pPr lvl="1"/>
            <a:r>
              <a:rPr lang="sr-Latn-RS" b="1" noProof="1"/>
              <a:t>Primary</a:t>
            </a:r>
            <a:r>
              <a:rPr lang="sr-Latn-RS" noProof="1"/>
              <a:t> – prihvata upise</a:t>
            </a:r>
          </a:p>
          <a:p>
            <a:pPr lvl="1"/>
            <a:r>
              <a:rPr lang="sr-Latn-RS" b="1" noProof="1"/>
              <a:t>Secondary</a:t>
            </a:r>
            <a:r>
              <a:rPr lang="sr-Latn-RS" noProof="1"/>
              <a:t> – replicira podatke</a:t>
            </a:r>
          </a:p>
          <a:p>
            <a:pPr lvl="1"/>
            <a:r>
              <a:rPr lang="sr-Latn-RS" b="1" noProof="1"/>
              <a:t>Arbiter</a:t>
            </a:r>
            <a:r>
              <a:rPr lang="sr-Latn-RS" noProof="1"/>
              <a:t> – učestvuje u glasanju (ne čuva podatke)</a:t>
            </a:r>
          </a:p>
          <a:p>
            <a:r>
              <a:rPr lang="sr-Latn-RS" b="1" noProof="1"/>
              <a:t>Oplog (Operation Log) - </a:t>
            </a:r>
            <a:r>
              <a:rPr lang="sr-Latn-RS" noProof="1"/>
              <a:t>mehanizam asinhrone replikacije zasnovan na zapisu operacija.</a:t>
            </a:r>
          </a:p>
          <a:p>
            <a:r>
              <a:rPr lang="sr-Latn-RS" b="1" noProof="1"/>
              <a:t>Automatski failover - </a:t>
            </a:r>
            <a:r>
              <a:rPr lang="sr-Latn-RS" noProof="1"/>
              <a:t>election proces bira novog primarnog čvora u slučaju otkaza.</a:t>
            </a:r>
          </a:p>
          <a:p>
            <a:endParaRPr lang="sr-Latn-RS" noProof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9A0BD7-D55A-126A-624F-651918E2E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6530" y="4297094"/>
            <a:ext cx="5498940" cy="213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268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F3B56-2CE2-5771-A61E-B64DE468E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9905" y="624110"/>
            <a:ext cx="9814708" cy="1280890"/>
          </a:xfrm>
        </p:spPr>
        <p:txBody>
          <a:bodyPr/>
          <a:lstStyle/>
          <a:p>
            <a:r>
              <a:rPr lang="sr-Latn-RS" noProof="1"/>
              <a:t>Konzistentnost, potvrđivanje i bezbednost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27-CED9-110F-E26A-6D34DE49E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9904" y="1905000"/>
            <a:ext cx="9814708" cy="4006222"/>
          </a:xfrm>
        </p:spPr>
        <p:txBody>
          <a:bodyPr/>
          <a:lstStyle/>
          <a:p>
            <a:r>
              <a:rPr lang="sr-Latn-RS" b="1" noProof="1"/>
              <a:t>Write Concern - </a:t>
            </a:r>
            <a:r>
              <a:rPr lang="sr-Latn-RS" noProof="1"/>
              <a:t>definiše koliko replika mora potvrditi upis (w:1, majority, all)</a:t>
            </a:r>
          </a:p>
          <a:p>
            <a:r>
              <a:rPr lang="sr-Latn-RS" b="1" noProof="1"/>
              <a:t>Read Preference - </a:t>
            </a:r>
            <a:r>
              <a:rPr lang="sr-Latn-RS" noProof="1"/>
              <a:t>određuje sa kog čvora se vrši čitanje (primary, secondary…)</a:t>
            </a:r>
          </a:p>
          <a:p>
            <a:r>
              <a:rPr lang="sr-Latn-RS" b="1" noProof="1"/>
              <a:t>Journaling - </a:t>
            </a:r>
            <a:r>
              <a:rPr lang="sr-Latn-RS" noProof="1"/>
              <a:t>mehanizam trajnog zapisa operacija na disk</a:t>
            </a:r>
          </a:p>
          <a:p>
            <a:r>
              <a:rPr lang="sr-Latn-RS" b="1" noProof="1"/>
              <a:t>Bezbednost replica seta:</a:t>
            </a:r>
            <a:endParaRPr lang="sr-Latn-RS" noProof="1"/>
          </a:p>
          <a:p>
            <a:pPr lvl="1"/>
            <a:r>
              <a:rPr lang="sr-Latn-RS" noProof="1"/>
              <a:t>Interna autentifikacija (KeyFile)</a:t>
            </a:r>
          </a:p>
          <a:p>
            <a:pPr lvl="1"/>
            <a:r>
              <a:rPr lang="sr-Latn-RS" noProof="1"/>
              <a:t>TLS/SSL enkripcija</a:t>
            </a:r>
          </a:p>
          <a:p>
            <a:pPr lvl="1"/>
            <a:r>
              <a:rPr lang="sr-Latn-RS" noProof="1"/>
              <a:t>Role-Based Access Control (RBAC)</a:t>
            </a:r>
          </a:p>
          <a:p>
            <a:endParaRPr lang="sr-Latn-RS" noProof="1"/>
          </a:p>
        </p:txBody>
      </p:sp>
    </p:spTree>
    <p:extLst>
      <p:ext uri="{BB962C8B-B14F-4D97-AF65-F5344CB8AC3E}">
        <p14:creationId xmlns:p14="http://schemas.microsoft.com/office/powerpoint/2010/main" val="3495526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032C7-6E6F-5AC8-B1A9-F0347E776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307" y="624110"/>
            <a:ext cx="9907306" cy="1280890"/>
          </a:xfrm>
        </p:spPr>
        <p:txBody>
          <a:bodyPr/>
          <a:lstStyle/>
          <a:p>
            <a:pPr algn="ctr"/>
            <a:r>
              <a:rPr lang="sr-Latn-RS" noProof="1"/>
              <a:t>Praktični deo – okruženje i topologija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E7C4B-58D5-8FE5-1EAD-72599923D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020" y="1794075"/>
            <a:ext cx="10416592" cy="4583575"/>
          </a:xfrm>
        </p:spPr>
        <p:txBody>
          <a:bodyPr>
            <a:normAutofit/>
          </a:bodyPr>
          <a:lstStyle/>
          <a:p>
            <a:r>
              <a:rPr lang="sr-Latn-RS" noProof="1"/>
              <a:t>Eksperiment realizovan u Docker okruženju (više instanci na jednoj mašini)</a:t>
            </a:r>
          </a:p>
          <a:p>
            <a:r>
              <a:rPr lang="sr-Latn-RS" noProof="1"/>
              <a:t>MongoDB replica set rs0 sa 3 čvora:</a:t>
            </a:r>
          </a:p>
          <a:p>
            <a:pPr lvl="1"/>
            <a:r>
              <a:rPr lang="sr-Latn-RS" noProof="1"/>
              <a:t>mongo1 → Primary</a:t>
            </a:r>
          </a:p>
          <a:p>
            <a:pPr lvl="1"/>
            <a:r>
              <a:rPr lang="sr-Latn-RS" noProof="1"/>
              <a:t>mongo2 → Secondary</a:t>
            </a:r>
          </a:p>
          <a:p>
            <a:pPr lvl="1"/>
            <a:r>
              <a:rPr lang="sr-Latn-RS" noProof="1"/>
              <a:t>mongo3 → Secondary</a:t>
            </a:r>
          </a:p>
          <a:p>
            <a:endParaRPr lang="sr-Latn-RS" noProof="1"/>
          </a:p>
          <a:p>
            <a:endParaRPr lang="sr-Latn-RS" noProof="1"/>
          </a:p>
          <a:p>
            <a:endParaRPr lang="sr-Latn-RS" noProof="1"/>
          </a:p>
          <a:p>
            <a:endParaRPr lang="sr-Latn-RS" noProof="1"/>
          </a:p>
          <a:p>
            <a:endParaRPr lang="sr-Latn-RS" noProof="1"/>
          </a:p>
          <a:p>
            <a:r>
              <a:rPr lang="sr-Latn-RS" noProof="1"/>
              <a:t>Cilj: demonstracija replikacije + failover + write concern + replica lag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A244FF-8D99-4225-8DB6-14D89C7470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280" y="3953238"/>
            <a:ext cx="9581700" cy="143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798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85284-5652-6DCB-782F-52DF36E15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962" y="311594"/>
            <a:ext cx="9872582" cy="961622"/>
          </a:xfrm>
        </p:spPr>
        <p:txBody>
          <a:bodyPr/>
          <a:lstStyle/>
          <a:p>
            <a:pPr algn="ctr"/>
            <a:r>
              <a:rPr lang="sr-Latn-RS" noProof="1"/>
              <a:t>Konfiguracija MongoDB Replica Set-a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CC7A5-DF82-E06D-D4D7-CA04975F7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5894" y="1481559"/>
            <a:ext cx="10358718" cy="4429663"/>
          </a:xfrm>
        </p:spPr>
        <p:txBody>
          <a:bodyPr/>
          <a:lstStyle/>
          <a:p>
            <a:r>
              <a:rPr lang="sr-Latn-RS" noProof="1"/>
              <a:t>Kreiranje Docker mreže</a:t>
            </a:r>
          </a:p>
          <a:p>
            <a:r>
              <a:rPr lang="sr-Latn-RS" noProof="1"/>
              <a:t>Pokretanje instanci sa </a:t>
            </a:r>
            <a:r>
              <a:rPr lang="sr-Latn-RS" b="1" noProof="1"/>
              <a:t>--replSet rs0</a:t>
            </a:r>
          </a:p>
          <a:p>
            <a:r>
              <a:rPr lang="sr-Latn-RS" noProof="1"/>
              <a:t>Inicijalizacija replica seta: </a:t>
            </a:r>
            <a:r>
              <a:rPr lang="sr-Latn-RS" b="1" noProof="1"/>
              <a:t>rs.initiate()</a:t>
            </a:r>
          </a:p>
          <a:p>
            <a:r>
              <a:rPr lang="sr-Latn-RS" noProof="1"/>
              <a:t>Provera uloga: </a:t>
            </a:r>
            <a:r>
              <a:rPr lang="sr-Latn-RS" b="1" noProof="1"/>
              <a:t>rs.status()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8C5B0B-F2EC-CBF5-6A01-7481327C82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7763" y="1481559"/>
            <a:ext cx="3748268" cy="15678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DAF0B9-CF05-6182-A5DB-06A6A938A1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441" y="3294168"/>
            <a:ext cx="8907118" cy="10288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344BDA-05FE-F199-AAD0-E9FFE59FE6A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83" t="-5" r="36154" b="80476"/>
          <a:stretch>
            <a:fillRect/>
          </a:stretch>
        </p:blipFill>
        <p:spPr>
          <a:xfrm>
            <a:off x="382059" y="4612659"/>
            <a:ext cx="3393280" cy="13085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70D032-1457-0D90-5B5A-FA6D16C0FF9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816" t="52349" r="28611" b="29801"/>
          <a:stretch>
            <a:fillRect/>
          </a:stretch>
        </p:blipFill>
        <p:spPr>
          <a:xfrm>
            <a:off x="3864331" y="4612659"/>
            <a:ext cx="3887514" cy="13085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D560127-0B19-977A-53C6-76D713CAB17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7948" b="75661"/>
          <a:stretch>
            <a:fillRect/>
          </a:stretch>
        </p:blipFill>
        <p:spPr>
          <a:xfrm>
            <a:off x="7840837" y="4602630"/>
            <a:ext cx="4165873" cy="130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235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A6F69-FDD8-F6D3-F8CD-A5CAACB8C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411" y="624110"/>
            <a:ext cx="10046202" cy="1280890"/>
          </a:xfrm>
        </p:spPr>
        <p:txBody>
          <a:bodyPr/>
          <a:lstStyle/>
          <a:p>
            <a:pPr algn="ctr"/>
            <a:r>
              <a:rPr lang="sr-Latn-RS" noProof="1"/>
              <a:t>Demonstracija replikacije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AECA7-72A1-2240-D30D-7D71B2854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3296" y="1574157"/>
            <a:ext cx="10451316" cy="4337065"/>
          </a:xfrm>
        </p:spPr>
        <p:txBody>
          <a:bodyPr/>
          <a:lstStyle/>
          <a:p>
            <a:r>
              <a:rPr lang="sr-Latn-RS" noProof="1"/>
              <a:t>Upis se vrši na </a:t>
            </a:r>
            <a:r>
              <a:rPr lang="sr-Latn-RS" b="1" noProof="1"/>
              <a:t>Primary</a:t>
            </a:r>
            <a:r>
              <a:rPr lang="sr-Latn-RS" noProof="1"/>
              <a:t> čvoru → promene se prenose na </a:t>
            </a:r>
            <a:r>
              <a:rPr lang="sr-Latn-RS" b="1" noProof="1"/>
              <a:t>Secondary</a:t>
            </a:r>
          </a:p>
          <a:p>
            <a:r>
              <a:rPr lang="sr-Latn-RS" noProof="1"/>
              <a:t>Test kolekcija: seminarski.artikli</a:t>
            </a:r>
          </a:p>
          <a:p>
            <a:endParaRPr lang="sr-Latn-RS" noProof="1"/>
          </a:p>
          <a:p>
            <a:endParaRPr lang="sr-Latn-RS" noProof="1"/>
          </a:p>
          <a:p>
            <a:endParaRPr lang="sr-Latn-RS" noProof="1"/>
          </a:p>
          <a:p>
            <a:pPr marL="0" indent="0">
              <a:buNone/>
            </a:pPr>
            <a:endParaRPr lang="sr-Latn-RS" noProof="1"/>
          </a:p>
          <a:p>
            <a:r>
              <a:rPr lang="sr-Latn-RS" b="1" noProof="1"/>
              <a:t>db.artikli.find()</a:t>
            </a:r>
          </a:p>
          <a:p>
            <a:r>
              <a:rPr lang="sr-Latn-RS" noProof="1"/>
              <a:t>Provera na secondary:</a:t>
            </a:r>
          </a:p>
          <a:p>
            <a:endParaRPr lang="sr-Latn-RS" noProof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92A4E8-5D97-F4E1-6508-5EB02E454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412" y="2381216"/>
            <a:ext cx="6331302" cy="14038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863E52-5D78-4021-18A0-BAE4D69D98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8652" y="4890143"/>
            <a:ext cx="2727269" cy="10210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464B96-0AB7-7615-D426-815A5D9B26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0380" y="2381216"/>
            <a:ext cx="4473567" cy="369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495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7C439-1B1F-E2F3-5A67-8527D6587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181" y="624110"/>
            <a:ext cx="9849432" cy="857449"/>
          </a:xfrm>
        </p:spPr>
        <p:txBody>
          <a:bodyPr/>
          <a:lstStyle/>
          <a:p>
            <a:pPr algn="ctr"/>
            <a:r>
              <a:rPr lang="sr-Latn-RS" noProof="1"/>
              <a:t>Demonstracija replikacije - oplog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B4FB5-34E7-B15F-BE74-ECF233E23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767" y="1632030"/>
            <a:ext cx="10300845" cy="4279192"/>
          </a:xfrm>
        </p:spPr>
        <p:txBody>
          <a:bodyPr/>
          <a:lstStyle/>
          <a:p>
            <a:r>
              <a:rPr lang="sr-Latn-RS" b="1" noProof="1"/>
              <a:t>Oplog – Operation log </a:t>
            </a:r>
            <a:r>
              <a:rPr lang="sr-Latn-RS" noProof="1"/>
              <a:t>(</a:t>
            </a:r>
            <a:r>
              <a:rPr lang="sr-Latn-RS" b="1" noProof="1"/>
              <a:t>local.oplog.rs</a:t>
            </a:r>
            <a:r>
              <a:rPr lang="sr-Latn-RS" noProof="1"/>
              <a:t>) beleži sve write operacije</a:t>
            </a:r>
          </a:p>
          <a:p>
            <a:r>
              <a:rPr lang="sr-Latn-RS" noProof="1">
                <a:solidFill>
                  <a:schemeClr val="tx1"/>
                </a:solidFill>
              </a:rPr>
              <a:t>Sekundarni čvorovi čitaju oplog i primenjuju operacije istim redosledom, čime se obezbeđuje deterministička replikacija.</a:t>
            </a:r>
          </a:p>
          <a:p>
            <a:r>
              <a:rPr lang="sr-Latn-RS" noProof="1"/>
              <a:t>Analiza oplog-a može se izvršiti upitom:</a:t>
            </a:r>
          </a:p>
          <a:p>
            <a:endParaRPr lang="sr-Latn-RS" noProof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F696BC-31B4-D918-CD32-065FF5C25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1409" y="3429000"/>
            <a:ext cx="5069182" cy="45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828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1CE17-4E03-5D2D-34EC-B6F699CED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881" y="278940"/>
            <a:ext cx="9895731" cy="788001"/>
          </a:xfrm>
        </p:spPr>
        <p:txBody>
          <a:bodyPr/>
          <a:lstStyle/>
          <a:p>
            <a:pPr algn="ctr"/>
            <a:r>
              <a:rPr lang="sr-Latn-RS" noProof="1"/>
              <a:t>Testiranje failover scenarija (Election)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A5B62-6D11-E5D9-5CB2-95FCA3815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7948" y="1679713"/>
            <a:ext cx="9536664" cy="4231510"/>
          </a:xfrm>
        </p:spPr>
        <p:txBody>
          <a:bodyPr/>
          <a:lstStyle/>
          <a:p>
            <a:r>
              <a:rPr lang="sr-Latn-RS" noProof="1"/>
              <a:t>Simulacija otkaza: </a:t>
            </a:r>
            <a:r>
              <a:rPr lang="sr-Latn-RS" b="1" noProof="1"/>
              <a:t>docker stop mongo1 </a:t>
            </a:r>
            <a:r>
              <a:rPr lang="sr-Latn-RS" noProof="1"/>
              <a:t>(primary)</a:t>
            </a:r>
          </a:p>
          <a:p>
            <a:r>
              <a:rPr lang="sr-Latn-RS" noProof="1"/>
              <a:t>Sekundarni čvorovi detektuju prekid (</a:t>
            </a:r>
            <a:r>
              <a:rPr lang="sr-Latn-RS" b="1" noProof="1"/>
              <a:t>heartbeat</a:t>
            </a:r>
            <a:r>
              <a:rPr lang="sr-Latn-RS" noProof="1"/>
              <a:t>)</a:t>
            </a:r>
          </a:p>
          <a:p>
            <a:r>
              <a:rPr lang="sr-Latn-RS" b="1" noProof="1"/>
              <a:t>Election</a:t>
            </a:r>
            <a:r>
              <a:rPr lang="sr-Latn-RS" noProof="1"/>
              <a:t> → bira se novi primary (majority)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FF631B-980D-3D9C-4EC6-67C1826A3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618" y="3688474"/>
            <a:ext cx="4514470" cy="18331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D03BA0-8431-55FA-A904-02575350DD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629" y="3806687"/>
            <a:ext cx="5047983" cy="159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677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5ECC2-66CF-FE8E-406E-9EE5B1B3E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0383" y="624110"/>
            <a:ext cx="9934229" cy="1280890"/>
          </a:xfrm>
        </p:spPr>
        <p:txBody>
          <a:bodyPr/>
          <a:lstStyle/>
          <a:p>
            <a:r>
              <a:rPr lang="sr-Latn-RS" noProof="1"/>
              <a:t>Testiranje failover scenarija (Election)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ADEA9-1531-8050-E909-B6665C79E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631" y="2206486"/>
            <a:ext cx="9800981" cy="3704735"/>
          </a:xfrm>
        </p:spPr>
        <p:txBody>
          <a:bodyPr>
            <a:normAutofit fontScale="92500" lnSpcReduction="20000"/>
          </a:bodyPr>
          <a:lstStyle/>
          <a:p>
            <a:r>
              <a:rPr lang="sr-Latn-RS" noProof="1"/>
              <a:t>Verifikacija: upis na novom primary + provera replikacije</a:t>
            </a:r>
          </a:p>
          <a:p>
            <a:endParaRPr lang="sr-Latn-RS" noProof="1"/>
          </a:p>
          <a:p>
            <a:endParaRPr lang="sr-Latn-RS" noProof="1"/>
          </a:p>
          <a:p>
            <a:endParaRPr lang="sr-Latn-RS" noProof="1"/>
          </a:p>
          <a:p>
            <a:r>
              <a:rPr lang="sr-Latn-RS" noProof="1"/>
              <a:t>Zatim se proverava da li se isti podatak pojavljuje na </a:t>
            </a:r>
          </a:p>
          <a:p>
            <a:pPr marL="0" indent="0">
              <a:buNone/>
            </a:pPr>
            <a:r>
              <a:rPr lang="sr-Latn-RS" noProof="1"/>
              <a:t>     sekundarnom čvoru (db.artikli.find()), čime se potvrđuje:</a:t>
            </a:r>
          </a:p>
          <a:p>
            <a:pPr lvl="1"/>
            <a:r>
              <a:rPr lang="sr-Latn-RS" noProof="1"/>
              <a:t>da je novi primary prihvatio upis,</a:t>
            </a:r>
          </a:p>
          <a:p>
            <a:pPr lvl="1"/>
            <a:r>
              <a:rPr lang="sr-Latn-RS" noProof="1"/>
              <a:t>da replikacija i dalje funkcioniše.</a:t>
            </a:r>
          </a:p>
          <a:p>
            <a:pPr lvl="1"/>
            <a:endParaRPr lang="sr-Latn-RS" noProof="1"/>
          </a:p>
          <a:p>
            <a:r>
              <a:rPr lang="sr-Latn-RS" noProof="1"/>
              <a:t>Povratkom čvora mongo1 u klaster on sada postaje </a:t>
            </a:r>
          </a:p>
          <a:p>
            <a:pPr marL="0" indent="0">
              <a:buNone/>
            </a:pPr>
            <a:r>
              <a:rPr lang="sr-Latn-RS" noProof="1"/>
              <a:t>     secondary čvor</a:t>
            </a:r>
          </a:p>
          <a:p>
            <a:endParaRPr lang="sr-Latn-RS" noProof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BF5277-CFCF-5270-6090-F834C6E45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4990" y="3056995"/>
            <a:ext cx="2889622" cy="34439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E5B9F2-63C1-A4FA-8F67-168D08257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2414" y="2863850"/>
            <a:ext cx="5943600" cy="56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880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58941-6663-904F-9056-A35E7B6A2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9287" y="418976"/>
            <a:ext cx="9755325" cy="1220981"/>
          </a:xfrm>
        </p:spPr>
        <p:txBody>
          <a:bodyPr>
            <a:normAutofit/>
          </a:bodyPr>
          <a:lstStyle/>
          <a:p>
            <a:pPr algn="ctr"/>
            <a:r>
              <a:rPr lang="sr-Latn-RS" noProof="1"/>
              <a:t>Konzistentnost i monitoring: Write Concern &amp; Replica Lag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2D380-E368-AB39-1E9D-B4CAF0B39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8435" y="2007704"/>
            <a:ext cx="9616177" cy="4234070"/>
          </a:xfrm>
        </p:spPr>
        <p:txBody>
          <a:bodyPr>
            <a:normAutofit/>
          </a:bodyPr>
          <a:lstStyle/>
          <a:p>
            <a:r>
              <a:rPr lang="sr-Latn-RS" b="1" noProof="1"/>
              <a:t>Write Concern</a:t>
            </a:r>
            <a:endParaRPr lang="sr-Latn-RS" noProof="1"/>
          </a:p>
          <a:p>
            <a:pPr lvl="1"/>
            <a:r>
              <a:rPr lang="sr-Latn-RS" noProof="1"/>
              <a:t>w:1 → najbrže, potvrda samo primary</a:t>
            </a:r>
          </a:p>
          <a:p>
            <a:pPr lvl="1"/>
            <a:r>
              <a:rPr lang="sr-Latn-RS" noProof="1"/>
              <a:t>w:majority → balans pouzdanosti i performansi</a:t>
            </a:r>
          </a:p>
          <a:p>
            <a:pPr lvl="1"/>
            <a:r>
              <a:rPr lang="sr-Latn-RS" noProof="1"/>
              <a:t>w:all → najjača garancija, najveća latencija</a:t>
            </a:r>
          </a:p>
          <a:p>
            <a:pPr marL="457200" lvl="1" indent="0">
              <a:buNone/>
            </a:pPr>
            <a:endParaRPr lang="sr-Latn-RS" noProof="1"/>
          </a:p>
          <a:p>
            <a:pPr marL="457200" lvl="1" indent="0">
              <a:buNone/>
            </a:pPr>
            <a:endParaRPr lang="sr-Latn-RS" noProof="1"/>
          </a:p>
          <a:p>
            <a:pPr marL="457200" lvl="1" indent="0">
              <a:buNone/>
            </a:pPr>
            <a:endParaRPr lang="sr-Latn-RS" noProof="1"/>
          </a:p>
          <a:p>
            <a:r>
              <a:rPr lang="sr-Latn-RS" b="1" noProof="1"/>
              <a:t>Praćenje replikacije</a:t>
            </a:r>
            <a:endParaRPr lang="sr-Latn-RS" noProof="1"/>
          </a:p>
          <a:p>
            <a:pPr lvl="1"/>
            <a:r>
              <a:rPr lang="sr-Latn-RS" noProof="1"/>
              <a:t>rs.printReplicationInfo()</a:t>
            </a:r>
          </a:p>
          <a:p>
            <a:pPr lvl="1"/>
            <a:r>
              <a:rPr lang="sr-Latn-RS" noProof="1"/>
              <a:t>rs.printSecondaryReplicationInfo()</a:t>
            </a:r>
          </a:p>
          <a:p>
            <a:pPr lvl="1"/>
            <a:r>
              <a:rPr lang="sr-Latn-RS" noProof="1"/>
              <a:t>cilj: uočavanje </a:t>
            </a:r>
            <a:r>
              <a:rPr lang="sr-Latn-RS" b="1" noProof="1"/>
              <a:t>replica lag-a</a:t>
            </a:r>
            <a:endParaRPr lang="sr-Latn-RS" noProof="1"/>
          </a:p>
          <a:p>
            <a:endParaRPr lang="sr-Latn-RS" noProof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58EE76-6C0A-2B90-00D3-29B6F905C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2258" y="3667540"/>
            <a:ext cx="3611813" cy="749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065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2FA91-91AA-0FED-F5FC-8B6EADE99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09" y="624110"/>
            <a:ext cx="10918203" cy="1280890"/>
          </a:xfrm>
        </p:spPr>
        <p:txBody>
          <a:bodyPr/>
          <a:lstStyle/>
          <a:p>
            <a:pPr algn="ctr"/>
            <a:r>
              <a:rPr lang="sr-Latn-RS" noProof="1"/>
              <a:t>Zaključak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FDFD7-AB9C-9D4F-4F84-4F09ABF72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9165" y="1997765"/>
            <a:ext cx="9735447" cy="3913457"/>
          </a:xfrm>
        </p:spPr>
        <p:txBody>
          <a:bodyPr/>
          <a:lstStyle/>
          <a:p>
            <a:r>
              <a:rPr lang="sr-Latn-RS" noProof="1"/>
              <a:t>MongoDB Replica Set obezbeđuje </a:t>
            </a:r>
            <a:r>
              <a:rPr lang="sr-Latn-RS" b="1" noProof="1"/>
              <a:t>visoku dostupnost i automatski failover</a:t>
            </a:r>
          </a:p>
          <a:p>
            <a:r>
              <a:rPr lang="sr-Latn-RS" noProof="1"/>
              <a:t>Replikacija se zasniva na </a:t>
            </a:r>
            <a:r>
              <a:rPr lang="sr-Latn-RS" b="1" noProof="1"/>
              <a:t>oplog mehanizmu</a:t>
            </a:r>
          </a:p>
          <a:p>
            <a:r>
              <a:rPr lang="sr-Latn-RS" noProof="1"/>
              <a:t>Election proces omogućava kontinuitet rada sistema</a:t>
            </a:r>
          </a:p>
          <a:p>
            <a:r>
              <a:rPr lang="sr-Latn-RS" noProof="1"/>
              <a:t>Write Concern definiše kompromis između </a:t>
            </a:r>
            <a:r>
              <a:rPr lang="sr-Latn-RS" b="1" noProof="1"/>
              <a:t>konzistentnosti i performansi</a:t>
            </a:r>
          </a:p>
          <a:p>
            <a:r>
              <a:rPr lang="sr-Latn-RS" noProof="1"/>
              <a:t>Mogućnosti nadogradnje: </a:t>
            </a:r>
            <a:r>
              <a:rPr lang="sr-Latn-RS" b="1" noProof="1"/>
              <a:t>Sharding, MongoDB Atlas, Multi-region</a:t>
            </a:r>
          </a:p>
        </p:txBody>
      </p:sp>
    </p:spTree>
    <p:extLst>
      <p:ext uri="{BB962C8B-B14F-4D97-AF65-F5344CB8AC3E}">
        <p14:creationId xmlns:p14="http://schemas.microsoft.com/office/powerpoint/2010/main" val="667666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5B196-06C1-9D24-80AF-CE445DCA6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2788555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sr-Latn-RS" sz="6000" dirty="0"/>
              <a:t>HVALA NA PAŽNJI!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14097743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11208</TotalTime>
  <Words>717</Words>
  <Application>Microsoft Office PowerPoint</Application>
  <PresentationFormat>Widescreen</PresentationFormat>
  <Paragraphs>126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Century Gothic</vt:lpstr>
      <vt:lpstr>Wingdings 3</vt:lpstr>
      <vt:lpstr>Wisp</vt:lpstr>
      <vt:lpstr>Replikacija podataka u MongoDB bazi podataka</vt:lpstr>
      <vt:lpstr>Uvod</vt:lpstr>
      <vt:lpstr>Osnovni principi replikacije podataka</vt:lpstr>
      <vt:lpstr>Tipovi replikacije</vt:lpstr>
      <vt:lpstr>Replikacija u MongoDB</vt:lpstr>
      <vt:lpstr>Konzistentnost, potvrđivanje i bezbednost</vt:lpstr>
      <vt:lpstr>Praktični deo – okruženje i topologija</vt:lpstr>
      <vt:lpstr>Konfiguracija MongoDB Replica Set-a</vt:lpstr>
      <vt:lpstr>Demonstracija replikacije</vt:lpstr>
      <vt:lpstr>Demonstracija replikacije - oplog</vt:lpstr>
      <vt:lpstr>Testiranje failover scenarija (Election)</vt:lpstr>
      <vt:lpstr>Testiranje failover scenarija (Election)</vt:lpstr>
      <vt:lpstr>Konzistentnost i monitoring: Write Concern &amp; Replica Lag</vt:lpstr>
      <vt:lpstr>Zaključak</vt:lpstr>
      <vt:lpstr>HVALA NA PAŽNJI!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Anastasija Vasić</dc:creator>
  <cp:lastModifiedBy>Anastasija Vasić</cp:lastModifiedBy>
  <cp:revision>5</cp:revision>
  <dcterms:created xsi:type="dcterms:W3CDTF">2026-02-22T23:28:19Z</dcterms:created>
  <dcterms:modified xsi:type="dcterms:W3CDTF">2026-03-10T20:13:22Z</dcterms:modified>
</cp:coreProperties>
</file>