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3" r:id="rId11"/>
    <p:sldId id="28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3374D542-6E3E-455F-9BFB-B45891911720}">
          <p14:sldIdLst>
            <p14:sldId id="256"/>
            <p14:sldId id="257"/>
          </p14:sldIdLst>
        </p14:section>
        <p14:section name="Search for 3D Models" id="{6844172C-9703-4DC7-908A-C23538616A3C}">
          <p14:sldIdLst>
            <p14:sldId id="258"/>
            <p14:sldId id="259"/>
          </p14:sldIdLst>
        </p14:section>
        <p14:section name="Insert a 3D Model from a File" id="{66737F24-1C36-4DF4-A00F-927A3F1468AC}">
          <p14:sldIdLst>
            <p14:sldId id="260"/>
          </p14:sldIdLst>
        </p14:section>
        <p14:section name="Position and Rotate Your 3D Model" id="{A08F0015-E7F5-4E26-BBAF-AEE4F9A16AD2}">
          <p14:sldIdLst>
            <p14:sldId id="261"/>
            <p14:sldId id="262"/>
          </p14:sldIdLst>
        </p14:section>
        <p14:section name="Animate Your 3D Model" id="{B62868DA-F525-4AC5-9E3E-39ECA0154BBD}">
          <p14:sldIdLst>
            <p14:sldId id="263"/>
            <p14:sldId id="264"/>
            <p14:sldId id="283"/>
          </p14:sldIdLst>
        </p14:section>
        <p14:section name="Learn More" id="{62756D7E-964E-493A-83A1-13BC0B6B5E47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C4D9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297" autoAdjust="0"/>
  </p:normalViewPr>
  <p:slideViewPr>
    <p:cSldViewPr snapToGrid="0">
      <p:cViewPr varScale="1">
        <p:scale>
          <a:sx n="75" d="100"/>
          <a:sy n="75" d="100"/>
        </p:scale>
        <p:origin x="9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3FCC2-4E7A-4671-AA79-177CB194E449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1C38D-F26D-4167-83EF-8774BC62D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50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1C38D-F26D-4167-83EF-8774BC62D54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602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1C38D-F26D-4167-83EF-8774BC62D54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940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1C38D-F26D-4167-83EF-8774BC62D54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698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1C38D-F26D-4167-83EF-8774BC62D54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80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1C38D-F26D-4167-83EF-8774BC62D54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6866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1C38D-F26D-4167-83EF-8774BC62D54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3226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1C38D-F26D-4167-83EF-8774BC62D54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2939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1C38D-F26D-4167-83EF-8774BC62D54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4913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1C38D-F26D-4167-83EF-8774BC62D54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545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545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238323-0ADF-4328-9564-AEB5DFD80DB6}"/>
              </a:ext>
            </a:extLst>
          </p:cNvPr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76FAE-C8F8-44A1-8BC7-9EB948371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3500"/>
            <a:ext cx="9144000" cy="1790700"/>
          </a:xfrm>
        </p:spPr>
        <p:txBody>
          <a:bodyPr vert="horz" lIns="91440" tIns="0" rIns="91440" bIns="0" rtlCol="0" anchor="t" anchorCtr="0">
            <a:noAutofit/>
          </a:bodyPr>
          <a:lstStyle>
            <a:lvl1pPr>
              <a:lnSpc>
                <a:spcPct val="100000"/>
              </a:lnSpc>
              <a:defRPr lang="en-US" sz="4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900C6-1C2C-4612-8672-356C6DDFD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8009"/>
            <a:ext cx="9144000" cy="1287675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228600" lvl="0" indent="-228600">
              <a:lnSpc>
                <a:spcPct val="150000"/>
              </a:lnSpc>
              <a:spcAft>
                <a:spcPts val="1200"/>
              </a:spcAft>
            </a:pPr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4E620-B44E-41FF-8FA1-D955BD69C0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6" b="71478"/>
          <a:stretch/>
        </p:blipFill>
        <p:spPr>
          <a:xfrm>
            <a:off x="342899" y="4546601"/>
            <a:ext cx="11715751" cy="202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4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8AB91F-D739-4DD5-859B-B16B125B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034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70BB0-A521-41C6-A0AE-BEE679D2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46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89203F-46EF-44A2-956A-7FF6AF93B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D47175-944E-463B-ABBB-06669A47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2" y="1507068"/>
            <a:ext cx="3192379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 algn="l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725B0-0DB7-41CE-9C4C-39E8D0F632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95537" y="1507068"/>
            <a:ext cx="7143905" cy="4669896"/>
          </a:xfrm>
        </p:spPr>
        <p:txBody>
          <a:bodyPr anchor="ctr"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E63483-559C-4A6F-B04F-D6C56A3C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9444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82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017C897-2775-4930-B0BE-BEB72453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815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258610D-0376-4D1E-8ED8-29382288B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1C16CD2-606C-441E-BBA3-51767980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3501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675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FD28E-AEC9-43B8-86F4-9CD3C41D49D7}"/>
              </a:ext>
            </a:extLst>
          </p:cNvPr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E014-E3CD-4B9A-A705-F1CADD8F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DE5F7-8A52-43AD-8F30-F13CF545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C85AE-A002-4BA3-8D90-3960ED0F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4E560-77BF-4D1A-B6E7-CD55CE12B1B8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03AA5-C732-4ECB-88D6-DAA20E2C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0433-CBB5-49C5-B032-5A800E5D0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2A06DA-7FF5-4DDE-94D0-63A83DB241E8}"/>
              </a:ext>
            </a:extLst>
          </p:cNvPr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51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  <p:sldLayoutId id="2147483652" r:id="rId4"/>
    <p:sldLayoutId id="2147483660" r:id="rId5"/>
    <p:sldLayoutId id="2147483662" r:id="rId6"/>
    <p:sldLayoutId id="2147483661" r:id="rId7"/>
    <p:sldLayoutId id="2147483655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F8D61-9318-4DC8-A868-2B1BFDD2B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004144"/>
            <a:ext cx="9617765" cy="1120055"/>
          </a:xfrm>
        </p:spPr>
        <p:txBody>
          <a:bodyPr/>
          <a:lstStyle/>
          <a:p>
            <a:r>
              <a:rPr lang="sr-Latn-RS" noProof="1"/>
              <a:t>Sigurnost baza podataka u Oracle-u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322DE6-C2BE-4B53-BC28-C43EBD0052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Latn-RS" noProof="1"/>
              <a:t>Sistemi za upravljanje bazama podataka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6FA85D-3B0A-4E0C-B8AC-042993910A93}"/>
              </a:ext>
            </a:extLst>
          </p:cNvPr>
          <p:cNvSpPr txBox="1">
            <a:spLocks/>
          </p:cNvSpPr>
          <p:nvPr/>
        </p:nvSpPr>
        <p:spPr>
          <a:xfrm>
            <a:off x="1110432" y="5539548"/>
            <a:ext cx="2447364" cy="49523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pPr>
              <a:spcBef>
                <a:spcPts val="1000"/>
              </a:spcBef>
            </a:pPr>
            <a:r>
              <a:rPr lang="sr-Latn-RS" sz="1800" noProof="1">
                <a:solidFill>
                  <a:schemeClr val="bg1"/>
                </a:solidFill>
                <a:latin typeface="+mj-lt"/>
                <a:ea typeface="+mn-ea"/>
                <a:cs typeface="+mn-cs"/>
              </a:rPr>
              <a:t>Anastasija Vasić, 1848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FE0F52F-ADF1-4011-A51B-92383D0AB7F8}"/>
              </a:ext>
            </a:extLst>
          </p:cNvPr>
          <p:cNvSpPr txBox="1">
            <a:spLocks/>
          </p:cNvSpPr>
          <p:nvPr/>
        </p:nvSpPr>
        <p:spPr>
          <a:xfrm>
            <a:off x="8077762" y="5524500"/>
            <a:ext cx="3760738" cy="10205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sr-Latn-RS" sz="1200" u="sng" noProof="1"/>
          </a:p>
        </p:txBody>
      </p:sp>
    </p:spTree>
    <p:extLst>
      <p:ext uri="{BB962C8B-B14F-4D97-AF65-F5344CB8AC3E}">
        <p14:creationId xmlns:p14="http://schemas.microsoft.com/office/powerpoint/2010/main" val="2997580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795B-A93A-416C-8052-FAF4D9073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929247"/>
          </a:xfrm>
        </p:spPr>
        <p:txBody>
          <a:bodyPr/>
          <a:lstStyle/>
          <a:p>
            <a:pPr algn="ctr"/>
            <a:r>
              <a:rPr lang="sr-Latn-RS" sz="3600" b="1" noProof="1"/>
              <a:t>UVOD</a:t>
            </a:r>
            <a:endParaRPr lang="sr-Latn-RS" b="1" noProof="1"/>
          </a:p>
        </p:txBody>
      </p:sp>
      <p:sp>
        <p:nvSpPr>
          <p:cNvPr id="4" name="Text Placeholder 5" descr="2D Slides">
            <a:extLst>
              <a:ext uri="{FF2B5EF4-FFF2-40B4-BE49-F238E27FC236}">
                <a16:creationId xmlns:a16="http://schemas.microsoft.com/office/drawing/2014/main" id="{5D483DB7-3925-4129-9AB3-FF75028415D3}"/>
              </a:ext>
            </a:extLst>
          </p:cNvPr>
          <p:cNvSpPr txBox="1">
            <a:spLocks/>
          </p:cNvSpPr>
          <p:nvPr/>
        </p:nvSpPr>
        <p:spPr>
          <a:xfrm>
            <a:off x="1382177" y="1452562"/>
            <a:ext cx="10011728" cy="518887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r-Latn-RS" sz="2400" noProof="1">
                <a:latin typeface="+mj-lt"/>
                <a:ea typeface="+mj-ea"/>
                <a:cs typeface="+mj-cs"/>
              </a:rPr>
              <a:t>Ključni faktor pouzdanosti</a:t>
            </a:r>
          </a:p>
          <a:p>
            <a:r>
              <a:rPr lang="sr-Latn-RS" sz="2400" noProof="1">
                <a:latin typeface="+mj-lt"/>
                <a:ea typeface="+mj-ea"/>
                <a:cs typeface="+mj-cs"/>
              </a:rPr>
              <a:t>Oracle mehanizmi za zaštitu podataka:</a:t>
            </a:r>
          </a:p>
          <a:p>
            <a:pPr lvl="1"/>
            <a:r>
              <a:rPr lang="sr-Latn-RS" sz="1800" noProof="1">
                <a:latin typeface="+mj-lt"/>
                <a:ea typeface="+mj-ea"/>
                <a:cs typeface="+mj-cs"/>
              </a:rPr>
              <a:t>Autentifikacija i autorizacija (RBAC)</a:t>
            </a:r>
          </a:p>
          <a:p>
            <a:pPr lvl="1"/>
            <a:r>
              <a:rPr lang="sr-Latn-RS" sz="1800" noProof="1">
                <a:latin typeface="+mj-lt"/>
                <a:ea typeface="+mj-ea"/>
                <a:cs typeface="+mj-cs"/>
              </a:rPr>
              <a:t>Kontrole pristupa poput FGAC/VPD</a:t>
            </a:r>
          </a:p>
          <a:p>
            <a:pPr lvl="1"/>
            <a:r>
              <a:rPr lang="sr-Latn-RS" sz="1800" noProof="1">
                <a:latin typeface="+mj-lt"/>
                <a:ea typeface="+mj-ea"/>
                <a:cs typeface="+mj-cs"/>
              </a:rPr>
              <a:t>Auditovanje i praćenje aktivnosti</a:t>
            </a:r>
          </a:p>
          <a:p>
            <a:pPr lvl="1"/>
            <a:r>
              <a:rPr lang="sr-Latn-RS" sz="1800" noProof="1">
                <a:latin typeface="+mj-lt"/>
                <a:ea typeface="+mj-ea"/>
                <a:cs typeface="+mj-cs"/>
              </a:rPr>
              <a:t>Kriptografske metode zaštite podataka</a:t>
            </a:r>
          </a:p>
          <a:p>
            <a:pPr lvl="1"/>
            <a:r>
              <a:rPr lang="sr-Latn-RS" sz="1800" noProof="1">
                <a:latin typeface="+mj-lt"/>
                <a:ea typeface="+mj-ea"/>
                <a:cs typeface="+mj-cs"/>
              </a:rPr>
              <a:t>Sigurnost komunikacije </a:t>
            </a:r>
          </a:p>
          <a:p>
            <a:r>
              <a:rPr lang="sr-Latn-RS" sz="2200" noProof="1">
                <a:latin typeface="+mj-lt"/>
                <a:ea typeface="+mj-ea"/>
                <a:cs typeface="+mj-cs"/>
              </a:rPr>
              <a:t>Fokus na kontrolu pristupa i upravljanje privilegijama</a:t>
            </a:r>
          </a:p>
          <a:p>
            <a:r>
              <a:rPr lang="sr-Latn-RS" sz="2200" noProof="1">
                <a:latin typeface="+mj-lt"/>
                <a:ea typeface="+mj-ea"/>
                <a:cs typeface="+mj-cs"/>
              </a:rPr>
              <a:t>Mehanizmi koji omogućavaju granularno ograničavanje vidljivosti i operacija nad podacima</a:t>
            </a:r>
          </a:p>
          <a:p>
            <a:r>
              <a:rPr lang="sr-Latn-RS" sz="2200" noProof="1">
                <a:latin typeface="+mj-lt"/>
                <a:ea typeface="+mj-ea"/>
                <a:cs typeface="+mj-cs"/>
              </a:rPr>
              <a:t>Tipični rizici (neovlašćen pristup, eskalacija privilegija, SQL injection, curenje podataka...) </a:t>
            </a:r>
          </a:p>
          <a:p>
            <a:endParaRPr lang="sr-Latn-RS" sz="2200" noProof="1">
              <a:latin typeface="+mj-lt"/>
              <a:ea typeface="+mj-ea"/>
              <a:cs typeface="+mj-cs"/>
            </a:endParaRPr>
          </a:p>
          <a:p>
            <a:endParaRPr lang="sr-Latn-RS" sz="1800" noProof="1">
              <a:latin typeface="+mj-lt"/>
              <a:ea typeface="+mj-ea"/>
              <a:cs typeface="+mj-cs"/>
            </a:endParaRPr>
          </a:p>
        </p:txBody>
      </p:sp>
      <p:pic>
        <p:nvPicPr>
          <p:cNvPr id="3" name="Grid" descr="grid plane">
            <a:extLst>
              <a:ext uri="{FF2B5EF4-FFF2-40B4-BE49-F238E27FC236}">
                <a16:creationId xmlns:a16="http://schemas.microsoft.com/office/drawing/2014/main" id="{71F5A0B2-7584-4034-8919-A5F2C482F46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07" r="-943" b="-1096"/>
          <a:stretch/>
        </p:blipFill>
        <p:spPr>
          <a:xfrm>
            <a:off x="5827143" y="2570364"/>
            <a:ext cx="5896604" cy="303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108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7273F9-59F9-4FB3-9D34-82C64C4F8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</p:spPr>
        <p:txBody>
          <a:bodyPr/>
          <a:lstStyle/>
          <a:p>
            <a:pPr algn="ctr"/>
            <a:r>
              <a:rPr lang="sr-Latn-RS" b="1" noProof="1"/>
              <a:t>Osnovni koncepti bezbednosti (CIA + principi)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AB49E1-195D-497A-BB31-2158958CA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58" y="1507068"/>
            <a:ext cx="5578642" cy="4669896"/>
          </a:xfrm>
        </p:spPr>
        <p:txBody>
          <a:bodyPr>
            <a:normAutofit/>
          </a:bodyPr>
          <a:lstStyle/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sr-Latn-RS" sz="1800" b="1" noProof="1">
                <a:solidFill>
                  <a:srgbClr val="1F2937"/>
                </a:solidFill>
              </a:rPr>
              <a:t>CIA model</a:t>
            </a:r>
            <a:r>
              <a:rPr lang="sr-Latn-RS" sz="1800" noProof="1">
                <a:solidFill>
                  <a:srgbClr val="1F2937"/>
                </a:solidFill>
              </a:rPr>
              <a:t>: poverljivost (ko sme da vidi), integritet (ko sme da menja), dostupnost (sistem radi kada treba).</a:t>
            </a:r>
            <a:endParaRPr lang="sr-Latn-RS" sz="1800" noProof="1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sr-Latn-RS" sz="1800" b="1" noProof="1">
                <a:solidFill>
                  <a:srgbClr val="1F2937"/>
                </a:solidFill>
              </a:rPr>
              <a:t>Least privilege</a:t>
            </a:r>
            <a:r>
              <a:rPr lang="sr-Latn-RS" sz="1800" noProof="1">
                <a:solidFill>
                  <a:srgbClr val="1F2937"/>
                </a:solidFill>
              </a:rPr>
              <a:t>: nalog dobija samo minimum privilegija za zadatak.</a:t>
            </a:r>
            <a:endParaRPr lang="sr-Latn-RS" sz="1800" noProof="1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sr-Latn-RS" sz="1800" b="1" noProof="1">
                <a:solidFill>
                  <a:srgbClr val="1F2937"/>
                </a:solidFill>
              </a:rPr>
              <a:t>Defense-in-depth</a:t>
            </a:r>
            <a:r>
              <a:rPr lang="sr-Latn-RS" sz="1800" noProof="1">
                <a:solidFill>
                  <a:srgbClr val="1F2937"/>
                </a:solidFill>
              </a:rPr>
              <a:t>: više slojeva (mreža → identitet → autorizacija → audit → kripto).</a:t>
            </a:r>
            <a:endParaRPr lang="sr-Latn-RS" sz="1800" noProof="1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sr-Latn-RS" sz="1800" b="1" noProof="1">
                <a:solidFill>
                  <a:srgbClr val="1F2937"/>
                </a:solidFill>
              </a:rPr>
              <a:t>SoD (Separation of duties)</a:t>
            </a:r>
            <a:r>
              <a:rPr lang="sr-Latn-RS" sz="1800" noProof="1">
                <a:solidFill>
                  <a:srgbClr val="1F2937"/>
                </a:solidFill>
              </a:rPr>
              <a:t>: razdvajanje administracije od poslovnog pristupa.</a:t>
            </a:r>
            <a:endParaRPr lang="sr-Latn-RS" sz="1800" noProof="1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43CE8E9-F2BA-1D6D-FA72-5B3DA293AF5F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/>
          <a:stretch>
            <a:fillRect/>
          </a:stretch>
        </p:blipFill>
        <p:spPr>
          <a:xfrm>
            <a:off x="6939351" y="2578651"/>
            <a:ext cx="3419952" cy="504895"/>
          </a:xfrm>
          <a:prstGeom prst="rect">
            <a:avLst/>
          </a:prstGeom>
        </p:spPr>
      </p:pic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5CF77109-2319-C0DA-430D-B077CB320415}"/>
              </a:ext>
            </a:extLst>
          </p:cNvPr>
          <p:cNvSpPr txBox="1">
            <a:spLocks/>
          </p:cNvSpPr>
          <p:nvPr/>
        </p:nvSpPr>
        <p:spPr>
          <a:xfrm>
            <a:off x="6521116" y="2020415"/>
            <a:ext cx="5153525" cy="558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1638" indent="793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egoe UI" panose="020B0502040204020203" pitchFamily="34" charset="0"/>
              <a:buChar char="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egoe UI" panose="020B0502040204020203" pitchFamily="34" charset="0"/>
              <a:buChar char="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egoe UI" panose="020B0502040204020203" pitchFamily="34" charset="0"/>
              <a:buChar char="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Font typeface="Segoe UI" panose="020B0502040204020203" pitchFamily="34" charset="0"/>
              <a:buChar char="•"/>
            </a:pPr>
            <a:r>
              <a:rPr lang="sr-Latn-RS" sz="1800" noProof="1">
                <a:solidFill>
                  <a:srgbClr val="1F2937"/>
                </a:solidFill>
              </a:rPr>
              <a:t>Prvo samo mogućnost logovanja:</a:t>
            </a:r>
            <a:endParaRPr lang="sr-Latn-RS" sz="1800" noProof="1"/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F02308B9-DC17-15DC-50A1-CA13F2607B7C}"/>
              </a:ext>
            </a:extLst>
          </p:cNvPr>
          <p:cNvSpPr txBox="1">
            <a:spLocks/>
          </p:cNvSpPr>
          <p:nvPr/>
        </p:nvSpPr>
        <p:spPr>
          <a:xfrm>
            <a:off x="6521116" y="3283780"/>
            <a:ext cx="5153525" cy="558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1638" indent="793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egoe UI" panose="020B0502040204020203" pitchFamily="34" charset="0"/>
              <a:buChar char="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egoe UI" panose="020B0502040204020203" pitchFamily="34" charset="0"/>
              <a:buChar char="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egoe UI" panose="020B0502040204020203" pitchFamily="34" charset="0"/>
              <a:buChar char="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Font typeface="Segoe UI" panose="020B0502040204020203" pitchFamily="34" charset="0"/>
              <a:buChar char="•"/>
            </a:pPr>
            <a:r>
              <a:rPr lang="sr-Latn-RS" sz="1800" noProof="1">
                <a:solidFill>
                  <a:srgbClr val="1F2937"/>
                </a:solidFill>
              </a:rPr>
              <a:t>Pregled privilegija koje ima korisnik:</a:t>
            </a:r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Font typeface="Segoe UI" panose="020B0502040204020203" pitchFamily="34" charset="0"/>
              <a:buChar char="•"/>
            </a:pPr>
            <a:endParaRPr lang="sr-Latn-RS" sz="1800" noProof="1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DCA9495-E665-E62D-00CE-1133C4DA3E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116" y="4091813"/>
            <a:ext cx="5087060" cy="49536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CFC3B23-8E3A-4579-D22D-DBF0D2E3F1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9352" y="3534156"/>
            <a:ext cx="3323586" cy="45759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2C0CD5B-8A09-D6B4-7E76-614D73405C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980" y="4836979"/>
            <a:ext cx="5096586" cy="48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63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83D2B2-24CC-41A1-8AC3-EDF2DA2C3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Latn-RS" b="1" noProof="1"/>
              <a:t>Pretnje i rizici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85CDB0-AD30-4DBB-AC55-D824F09CE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4" y="1196393"/>
            <a:ext cx="4712634" cy="1064002"/>
          </a:xfrm>
        </p:spPr>
        <p:txBody>
          <a:bodyPr>
            <a:normAutofit/>
          </a:bodyPr>
          <a:lstStyle/>
          <a:p>
            <a:pPr marL="409575" lvl="1" indent="0">
              <a:lnSpc>
                <a:spcPct val="100000"/>
              </a:lnSpc>
              <a:buNone/>
            </a:pPr>
            <a:br>
              <a:rPr lang="sr-Latn-RS" sz="1800" noProof="1"/>
            </a:br>
            <a:r>
              <a:rPr lang="sr-Latn-RS" sz="1800" noProof="1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Neovlašćen pristup</a:t>
            </a:r>
            <a:br>
              <a:rPr lang="sr-Latn-RS" sz="1800" noProof="1"/>
            </a:br>
            <a:r>
              <a:rPr lang="sr-Latn-RS" sz="1600" noProof="1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 eskalacija privilegija (preširoki GRANT-ovi)</a:t>
            </a:r>
            <a:endParaRPr lang="sr-Latn-RS" sz="1600" noProof="1"/>
          </a:p>
          <a:p>
            <a:pPr marL="409575" lvl="1" indent="0">
              <a:lnSpc>
                <a:spcPts val="1800"/>
              </a:lnSpc>
              <a:buNone/>
            </a:pPr>
            <a:endParaRPr lang="sr-Latn-RS" noProof="1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3572B26-98AF-4AA8-9A0F-435FBBFB6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White">
          <a:xfrm>
            <a:off x="558416" y="1539660"/>
            <a:ext cx="409838" cy="409838"/>
          </a:xfrm>
          <a:prstGeom prst="ellipse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noProof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51FC095-7AF2-4B5E-A691-FF792B5B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15429" y="4074039"/>
            <a:ext cx="187380" cy="278885"/>
            <a:chOff x="5052041" y="3023897"/>
            <a:chExt cx="1009650" cy="150270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B894430-AD6A-4951-BB8A-4C66BE674C0B}"/>
                </a:ext>
              </a:extLst>
            </p:cNvPr>
            <p:cNvSpPr/>
            <p:nvPr/>
          </p:nvSpPr>
          <p:spPr>
            <a:xfrm>
              <a:off x="5052041" y="3023897"/>
              <a:ext cx="1009650" cy="1295400"/>
            </a:xfrm>
            <a:custGeom>
              <a:avLst/>
              <a:gdLst>
                <a:gd name="connsiteX0" fmla="*/ 684848 w 1009650"/>
                <a:gd name="connsiteY0" fmla="*/ 1231583 h 1295400"/>
                <a:gd name="connsiteX1" fmla="*/ 329565 w 1009650"/>
                <a:gd name="connsiteY1" fmla="*/ 1231583 h 1295400"/>
                <a:gd name="connsiteX2" fmla="*/ 328613 w 1009650"/>
                <a:gd name="connsiteY2" fmla="*/ 1056323 h 1295400"/>
                <a:gd name="connsiteX3" fmla="*/ 71438 w 1009650"/>
                <a:gd name="connsiteY3" fmla="*/ 504825 h 1295400"/>
                <a:gd name="connsiteX4" fmla="*/ 504825 w 1009650"/>
                <a:gd name="connsiteY4" fmla="*/ 71438 h 1295400"/>
                <a:gd name="connsiteX5" fmla="*/ 508635 w 1009650"/>
                <a:gd name="connsiteY5" fmla="*/ 71438 h 1295400"/>
                <a:gd name="connsiteX6" fmla="*/ 942023 w 1009650"/>
                <a:gd name="connsiteY6" fmla="*/ 504825 h 1295400"/>
                <a:gd name="connsiteX7" fmla="*/ 684848 w 1009650"/>
                <a:gd name="connsiteY7" fmla="*/ 1055370 h 1295400"/>
                <a:gd name="connsiteX8" fmla="*/ 684848 w 1009650"/>
                <a:gd name="connsiteY8" fmla="*/ 1231583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9650" h="1295400">
                  <a:moveTo>
                    <a:pt x="684848" y="1231583"/>
                  </a:moveTo>
                  <a:lnTo>
                    <a:pt x="329565" y="1231583"/>
                  </a:lnTo>
                  <a:lnTo>
                    <a:pt x="328613" y="1056323"/>
                  </a:lnTo>
                  <a:cubicBezTo>
                    <a:pt x="328613" y="816293"/>
                    <a:pt x="71438" y="744855"/>
                    <a:pt x="71438" y="504825"/>
                  </a:cubicBezTo>
                  <a:cubicBezTo>
                    <a:pt x="71438" y="264795"/>
                    <a:pt x="265748" y="71438"/>
                    <a:pt x="504825" y="71438"/>
                  </a:cubicBezTo>
                  <a:lnTo>
                    <a:pt x="508635" y="71438"/>
                  </a:lnTo>
                  <a:cubicBezTo>
                    <a:pt x="748665" y="71438"/>
                    <a:pt x="942023" y="265748"/>
                    <a:pt x="942023" y="504825"/>
                  </a:cubicBezTo>
                  <a:cubicBezTo>
                    <a:pt x="942023" y="743903"/>
                    <a:pt x="684848" y="816293"/>
                    <a:pt x="684848" y="1055370"/>
                  </a:cubicBezTo>
                  <a:lnTo>
                    <a:pt x="684848" y="1231583"/>
                  </a:lnTo>
                  <a:close/>
                </a:path>
              </a:pathLst>
            </a:custGeom>
            <a:noFill/>
            <a:ln w="25400" cap="flat">
              <a:solidFill>
                <a:srgbClr val="D2472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sr-Latn-RS" noProof="1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E7DD3E4-24F0-4493-9F21-04685133F0EA}"/>
                </a:ext>
              </a:extLst>
            </p:cNvPr>
            <p:cNvSpPr/>
            <p:nvPr/>
          </p:nvSpPr>
          <p:spPr>
            <a:xfrm>
              <a:off x="5366365" y="4383724"/>
              <a:ext cx="381000" cy="142875"/>
            </a:xfrm>
            <a:custGeom>
              <a:avLst/>
              <a:gdLst>
                <a:gd name="connsiteX0" fmla="*/ 71438 w 381000"/>
                <a:gd name="connsiteY0" fmla="*/ 71437 h 142875"/>
                <a:gd name="connsiteX1" fmla="*/ 313373 w 381000"/>
                <a:gd name="connsiteY1" fmla="*/ 71437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000" h="142875">
                  <a:moveTo>
                    <a:pt x="71438" y="71437"/>
                  </a:moveTo>
                  <a:lnTo>
                    <a:pt x="313373" y="71437"/>
                  </a:lnTo>
                </a:path>
              </a:pathLst>
            </a:custGeom>
            <a:ln w="25400" cap="flat">
              <a:solidFill>
                <a:srgbClr val="D2472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sr-Latn-RS" noProof="1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579BFBD-1795-4967-8112-196AA0A32CA3}"/>
                </a:ext>
              </a:extLst>
            </p:cNvPr>
            <p:cNvSpPr/>
            <p:nvPr/>
          </p:nvSpPr>
          <p:spPr>
            <a:xfrm>
              <a:off x="5310168" y="3958952"/>
              <a:ext cx="495301" cy="142874"/>
            </a:xfrm>
            <a:custGeom>
              <a:avLst/>
              <a:gdLst>
                <a:gd name="connsiteX0" fmla="*/ 71437 w 495300"/>
                <a:gd name="connsiteY0" fmla="*/ 71438 h 142875"/>
                <a:gd name="connsiteX1" fmla="*/ 426720 w 495300"/>
                <a:gd name="connsiteY1" fmla="*/ 7143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300" h="142875">
                  <a:moveTo>
                    <a:pt x="71437" y="71438"/>
                  </a:moveTo>
                  <a:lnTo>
                    <a:pt x="426720" y="71438"/>
                  </a:lnTo>
                </a:path>
              </a:pathLst>
            </a:custGeom>
            <a:ln w="25400" cap="flat">
              <a:solidFill>
                <a:srgbClr val="D2472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sr-Latn-RS" noProof="1"/>
            </a:p>
          </p:txBody>
        </p:sp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C851C4E8-1EC2-4782-B31A-6F082712F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White">
          <a:xfrm>
            <a:off x="558416" y="2495595"/>
            <a:ext cx="409838" cy="409838"/>
          </a:xfrm>
          <a:prstGeom prst="ellipse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noProof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4D3B53A-9E90-4B19-BA5D-E8F4971E2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White">
          <a:xfrm>
            <a:off x="558416" y="3429000"/>
            <a:ext cx="409838" cy="409838"/>
          </a:xfrm>
          <a:prstGeom prst="ellipse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noProof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CEF1CA8-00E5-0CF5-5B61-C942D94C4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White">
          <a:xfrm>
            <a:off x="558416" y="4549652"/>
            <a:ext cx="409838" cy="409838"/>
          </a:xfrm>
          <a:prstGeom prst="ellipse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noProof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4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412C0B2-AE18-F16A-7912-377A37215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White">
          <a:xfrm>
            <a:off x="558416" y="5670304"/>
            <a:ext cx="409838" cy="409838"/>
          </a:xfrm>
          <a:prstGeom prst="ellipse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noProof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5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99AF35C0-A614-19C9-6D12-64A9DF5FBB6C}"/>
              </a:ext>
            </a:extLst>
          </p:cNvPr>
          <p:cNvSpPr txBox="1">
            <a:spLocks/>
          </p:cNvSpPr>
          <p:nvPr/>
        </p:nvSpPr>
        <p:spPr>
          <a:xfrm>
            <a:off x="604434" y="2168270"/>
            <a:ext cx="4712634" cy="118418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1638" indent="793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egoe UI" panose="020B0502040204020203" pitchFamily="34" charset="0"/>
              <a:buChar char="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egoe UI" panose="020B0502040204020203" pitchFamily="34" charset="0"/>
              <a:buChar char="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egoe UI" panose="020B0502040204020203" pitchFamily="34" charset="0"/>
              <a:buChar char="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9575" lvl="1" indent="0">
              <a:lnSpc>
                <a:spcPct val="100000"/>
              </a:lnSpc>
              <a:buNone/>
            </a:pPr>
            <a:br>
              <a:rPr lang="sr-Latn-RS" sz="1800" noProof="1"/>
            </a:br>
            <a:r>
              <a:rPr lang="sr-Latn-RS" sz="1800" noProof="1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SQL injection</a:t>
            </a:r>
            <a:br>
              <a:rPr lang="sr-Latn-RS" sz="1800" noProof="1"/>
            </a:br>
            <a:r>
              <a:rPr lang="sr-Latn-RS" sz="1600" noProof="1">
                <a:solidFill>
                  <a:srgbClr val="1F2937"/>
                </a:solidFill>
              </a:rPr>
              <a:t>kompromitovan aplikacioni nalog + široke privilegije = masovna šteta.</a:t>
            </a:r>
            <a:endParaRPr lang="sr-Latn-RS" sz="1600" noProof="1"/>
          </a:p>
          <a:p>
            <a:pPr marL="409575" lvl="1" indent="0">
              <a:lnSpc>
                <a:spcPts val="1800"/>
              </a:lnSpc>
              <a:buFont typeface="Segoe UI" panose="020B0502040204020203" pitchFamily="34" charset="0"/>
              <a:buNone/>
            </a:pPr>
            <a:endParaRPr lang="sr-Latn-RS" noProof="1"/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434BE4C2-F604-37F6-E9AC-61A3F9C32C4F}"/>
              </a:ext>
            </a:extLst>
          </p:cNvPr>
          <p:cNvSpPr txBox="1">
            <a:spLocks/>
          </p:cNvSpPr>
          <p:nvPr/>
        </p:nvSpPr>
        <p:spPr>
          <a:xfrm>
            <a:off x="604434" y="3096805"/>
            <a:ext cx="4412734" cy="106400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1638" indent="793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egoe UI" panose="020B0502040204020203" pitchFamily="34" charset="0"/>
              <a:buChar char="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egoe UI" panose="020B0502040204020203" pitchFamily="34" charset="0"/>
              <a:buChar char="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egoe UI" panose="020B0502040204020203" pitchFamily="34" charset="0"/>
              <a:buChar char="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9575" lvl="1" indent="0">
              <a:lnSpc>
                <a:spcPct val="100000"/>
              </a:lnSpc>
              <a:buNone/>
            </a:pPr>
            <a:br>
              <a:rPr lang="sr-Latn-RS" sz="1800" noProof="1"/>
            </a:br>
            <a:r>
              <a:rPr lang="sr-Latn-RS" sz="1800" noProof="1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Insider threat</a:t>
            </a:r>
            <a:br>
              <a:rPr lang="sr-Latn-RS" sz="1800" noProof="1"/>
            </a:br>
            <a:r>
              <a:rPr lang="sr-Latn-RS" sz="1600" noProof="1">
                <a:solidFill>
                  <a:srgbClr val="1F2937"/>
                </a:solidFill>
              </a:rPr>
              <a:t>Insider + ljudske greške: deljeni nalozi, pogrešne konfiguracije.</a:t>
            </a:r>
            <a:endParaRPr lang="sr-Latn-RS" sz="1600" noProof="1"/>
          </a:p>
          <a:p>
            <a:pPr marL="409575" lvl="1" indent="0">
              <a:lnSpc>
                <a:spcPct val="100000"/>
              </a:lnSpc>
              <a:buFont typeface="Segoe UI" panose="020B0502040204020203" pitchFamily="34" charset="0"/>
              <a:buNone/>
            </a:pPr>
            <a:endParaRPr lang="sr-Latn-RS" sz="1600" noProof="1"/>
          </a:p>
          <a:p>
            <a:pPr marL="409575" lvl="1" indent="0">
              <a:lnSpc>
                <a:spcPts val="1800"/>
              </a:lnSpc>
              <a:buFont typeface="Segoe UI" panose="020B0502040204020203" pitchFamily="34" charset="0"/>
              <a:buNone/>
            </a:pPr>
            <a:endParaRPr lang="sr-Latn-RS" noProof="1"/>
          </a:p>
        </p:txBody>
      </p:sp>
      <p:sp>
        <p:nvSpPr>
          <p:cNvPr id="16" name="Content Placeholder 1">
            <a:extLst>
              <a:ext uri="{FF2B5EF4-FFF2-40B4-BE49-F238E27FC236}">
                <a16:creationId xmlns:a16="http://schemas.microsoft.com/office/drawing/2014/main" id="{388BFE66-2ACD-B765-4517-D7C44C012555}"/>
              </a:ext>
            </a:extLst>
          </p:cNvPr>
          <p:cNvSpPr txBox="1">
            <a:spLocks/>
          </p:cNvSpPr>
          <p:nvPr/>
        </p:nvSpPr>
        <p:spPr>
          <a:xfrm>
            <a:off x="604434" y="4274091"/>
            <a:ext cx="4712634" cy="10640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1638" indent="793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egoe UI" panose="020B0502040204020203" pitchFamily="34" charset="0"/>
              <a:buChar char="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egoe UI" panose="020B0502040204020203" pitchFamily="34" charset="0"/>
              <a:buChar char="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egoe UI" panose="020B0502040204020203" pitchFamily="34" charset="0"/>
              <a:buChar char="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9575" lvl="1" indent="0">
              <a:lnSpc>
                <a:spcPct val="100000"/>
              </a:lnSpc>
              <a:buNone/>
            </a:pPr>
            <a:br>
              <a:rPr lang="sr-Latn-RS" sz="1800" noProof="1"/>
            </a:br>
            <a:r>
              <a:rPr lang="sr-Latn-RS" sz="1800" noProof="1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DoS / zloupotreba resursa</a:t>
            </a:r>
            <a:br>
              <a:rPr lang="sr-Latn-RS" sz="1800" noProof="1"/>
            </a:br>
            <a:r>
              <a:rPr lang="sr-Latn-RS" sz="1600" noProof="1">
                <a:solidFill>
                  <a:srgbClr val="1F2937"/>
                </a:solidFill>
              </a:rPr>
              <a:t>mnogo sesija ili “teški” upiti.</a:t>
            </a:r>
            <a:endParaRPr lang="sr-Latn-RS" sz="1600" noProof="1"/>
          </a:p>
          <a:p>
            <a:pPr marL="409575" lvl="1" indent="0">
              <a:lnSpc>
                <a:spcPts val="1800"/>
              </a:lnSpc>
              <a:buFont typeface="Segoe UI" panose="020B0502040204020203" pitchFamily="34" charset="0"/>
              <a:buNone/>
            </a:pPr>
            <a:endParaRPr lang="sr-Latn-RS" noProof="1"/>
          </a:p>
        </p:txBody>
      </p:sp>
      <p:sp>
        <p:nvSpPr>
          <p:cNvPr id="17" name="Content Placeholder 1">
            <a:extLst>
              <a:ext uri="{FF2B5EF4-FFF2-40B4-BE49-F238E27FC236}">
                <a16:creationId xmlns:a16="http://schemas.microsoft.com/office/drawing/2014/main" id="{EF647D7F-AD4E-1353-7DD5-55FF997C54F3}"/>
              </a:ext>
            </a:extLst>
          </p:cNvPr>
          <p:cNvSpPr txBox="1">
            <a:spLocks/>
          </p:cNvSpPr>
          <p:nvPr/>
        </p:nvSpPr>
        <p:spPr>
          <a:xfrm>
            <a:off x="604434" y="5311577"/>
            <a:ext cx="4712634" cy="106400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1638" indent="793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egoe UI" panose="020B0502040204020203" pitchFamily="34" charset="0"/>
              <a:buChar char="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egoe UI" panose="020B0502040204020203" pitchFamily="34" charset="0"/>
              <a:buChar char="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egoe UI" panose="020B0502040204020203" pitchFamily="34" charset="0"/>
              <a:buChar char="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9575" lvl="1" indent="0">
              <a:lnSpc>
                <a:spcPct val="100000"/>
              </a:lnSpc>
              <a:buNone/>
            </a:pPr>
            <a:br>
              <a:rPr lang="sr-Latn-RS" sz="1800" noProof="1"/>
            </a:br>
            <a:r>
              <a:rPr lang="sr-Latn-RS" sz="1800" noProof="1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Curenje podataka</a:t>
            </a:r>
            <a:br>
              <a:rPr lang="sr-Latn-RS" sz="1800" noProof="1"/>
            </a:br>
            <a:r>
              <a:rPr lang="sr-Latn-RS" sz="1600" noProof="1">
                <a:solidFill>
                  <a:srgbClr val="1F2937"/>
                </a:solidFill>
              </a:rPr>
              <a:t>preko export/backup/log fajlova i mreže (MITM/sniffing).</a:t>
            </a:r>
            <a:endParaRPr lang="sr-Latn-RS" sz="1600" noProof="1"/>
          </a:p>
          <a:p>
            <a:pPr marL="409575" lvl="1" indent="0">
              <a:lnSpc>
                <a:spcPts val="1800"/>
              </a:lnSpc>
              <a:buFont typeface="Segoe UI" panose="020B0502040204020203" pitchFamily="34" charset="0"/>
              <a:buNone/>
            </a:pPr>
            <a:endParaRPr lang="sr-Latn-RS" noProof="1"/>
          </a:p>
        </p:txBody>
      </p:sp>
      <p:sp>
        <p:nvSpPr>
          <p:cNvPr id="18" name="Content Placeholder 1">
            <a:extLst>
              <a:ext uri="{FF2B5EF4-FFF2-40B4-BE49-F238E27FC236}">
                <a16:creationId xmlns:a16="http://schemas.microsoft.com/office/drawing/2014/main" id="{1C9E35B2-58C1-7FF6-A474-E09A779E808A}"/>
              </a:ext>
            </a:extLst>
          </p:cNvPr>
          <p:cNvSpPr txBox="1">
            <a:spLocks/>
          </p:cNvSpPr>
          <p:nvPr/>
        </p:nvSpPr>
        <p:spPr>
          <a:xfrm>
            <a:off x="7867498" y="1744579"/>
            <a:ext cx="4712634" cy="10640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1638" indent="793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egoe UI" panose="020B0502040204020203" pitchFamily="34" charset="0"/>
              <a:buChar char="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egoe UI" panose="020B0502040204020203" pitchFamily="34" charset="0"/>
              <a:buChar char="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egoe UI" panose="020B0502040204020203" pitchFamily="34" charset="0"/>
              <a:buChar char="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9575" lvl="1" indent="0">
              <a:lnSpc>
                <a:spcPct val="100000"/>
              </a:lnSpc>
              <a:buFont typeface="Segoe UI" panose="020B0502040204020203" pitchFamily="34" charset="0"/>
              <a:buNone/>
            </a:pPr>
            <a:br>
              <a:rPr lang="sr-Latn-RS" sz="1800" noProof="1"/>
            </a:br>
            <a:r>
              <a:rPr lang="sr-Latn-RS" sz="1800" noProof="1"/>
              <a:t>Matrica rizika za Oracle okruženje:</a:t>
            </a:r>
          </a:p>
          <a:p>
            <a:pPr marL="409575" lvl="1" indent="0">
              <a:lnSpc>
                <a:spcPct val="100000"/>
              </a:lnSpc>
              <a:buFont typeface="Segoe UI" panose="020B0502040204020203" pitchFamily="34" charset="0"/>
              <a:buNone/>
            </a:pPr>
            <a:endParaRPr lang="sr-Latn-RS" noProof="1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6D076BD-ABCA-449B-5FBE-0F81645F8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495" y="2522112"/>
            <a:ext cx="7152326" cy="3475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439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EE622-B204-4BAA-A73B-2ED70B230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Latn-RS" b="1" noProof="1">
                <a:solidFill>
                  <a:srgbClr val="E7E6E6">
                    <a:lumMod val="25000"/>
                  </a:srgb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Identiteti i Autentifikacija</a:t>
            </a:r>
            <a:endParaRPr lang="sr-Latn-RS" b="1" noProof="1"/>
          </a:p>
        </p:txBody>
      </p:sp>
      <p:sp>
        <p:nvSpPr>
          <p:cNvPr id="6" name="Content Placeholder 7" descr="PowerPoint allows you to import a variety of popular 3D model formats. &#10;So no matter your workflows outside of PowerPoint, you should be able to find a suitable solution to make your 3D models portable and presentable to virtually anyone, anywhere and on any device (with just a few quick modifications)">
            <a:extLst>
              <a:ext uri="{FF2B5EF4-FFF2-40B4-BE49-F238E27FC236}">
                <a16:creationId xmlns:a16="http://schemas.microsoft.com/office/drawing/2014/main" id="{9908A373-FC7C-4282-8736-3682F263411C}"/>
              </a:ext>
            </a:extLst>
          </p:cNvPr>
          <p:cNvSpPr txBox="1">
            <a:spLocks/>
          </p:cNvSpPr>
          <p:nvPr/>
        </p:nvSpPr>
        <p:spPr>
          <a:xfrm>
            <a:off x="533459" y="1485932"/>
            <a:ext cx="4321175" cy="39282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-177800">
              <a:spcAft>
                <a:spcPts val="600"/>
              </a:spcAft>
              <a:buSzPct val="100000"/>
            </a:pPr>
            <a:r>
              <a:rPr lang="sr-Latn-RS" sz="1800" noProof="1">
                <a:solidFill>
                  <a:srgbClr val="1F2937"/>
                </a:solidFill>
              </a:rPr>
              <a:t>User ≈ schema: objekti su u vlasništvu korisnika (namespace).</a:t>
            </a:r>
            <a:endParaRPr lang="sr-Latn-RS" sz="1800" noProof="1"/>
          </a:p>
          <a:p>
            <a:pPr marL="177800" indent="-177800">
              <a:spcAft>
                <a:spcPts val="200"/>
              </a:spcAft>
              <a:buSzPct val="100000"/>
            </a:pPr>
            <a:r>
              <a:rPr lang="sr-Latn-RS" sz="1800" b="1" noProof="1">
                <a:solidFill>
                  <a:srgbClr val="1F2937"/>
                </a:solidFill>
              </a:rPr>
              <a:t>Metode autentifikacije</a:t>
            </a:r>
            <a:r>
              <a:rPr lang="sr-Latn-RS" sz="1800" noProof="1">
                <a:solidFill>
                  <a:srgbClr val="1F2937"/>
                </a:solidFill>
              </a:rPr>
              <a:t>: </a:t>
            </a:r>
          </a:p>
          <a:p>
            <a:pPr marL="635000" lvl="1" indent="-177800">
              <a:spcAft>
                <a:spcPts val="200"/>
              </a:spcAft>
              <a:buSzPct val="100000"/>
            </a:pPr>
            <a:r>
              <a:rPr lang="sr-Latn-RS" sz="1600" noProof="1">
                <a:solidFill>
                  <a:srgbClr val="1F2937"/>
                </a:solidFill>
              </a:rPr>
              <a:t>password, </a:t>
            </a:r>
          </a:p>
          <a:p>
            <a:pPr marL="635000" lvl="1" indent="-177800">
              <a:spcAft>
                <a:spcPts val="200"/>
              </a:spcAft>
              <a:buSzPct val="100000"/>
            </a:pPr>
            <a:r>
              <a:rPr lang="sr-Latn-RS" sz="1600" noProof="1">
                <a:solidFill>
                  <a:srgbClr val="1F2937"/>
                </a:solidFill>
              </a:rPr>
              <a:t>external/OS, </a:t>
            </a:r>
          </a:p>
          <a:p>
            <a:pPr marL="635000" lvl="1" indent="-177800">
              <a:spcAft>
                <a:spcPts val="200"/>
              </a:spcAft>
              <a:buSzPct val="100000"/>
            </a:pPr>
            <a:r>
              <a:rPr lang="sr-Latn-RS" sz="1600" noProof="1">
                <a:solidFill>
                  <a:srgbClr val="1F2937"/>
                </a:solidFill>
              </a:rPr>
              <a:t>LDAP (enterprise) – zavisi od okruženja.</a:t>
            </a:r>
            <a:endParaRPr lang="sr-Latn-RS" sz="1600" noProof="1"/>
          </a:p>
          <a:p>
            <a:pPr marL="177800" indent="-177800">
              <a:spcAft>
                <a:spcPts val="600"/>
              </a:spcAft>
              <a:buSzPct val="100000"/>
            </a:pPr>
            <a:r>
              <a:rPr lang="sr-Latn-RS" sz="1800" b="1" noProof="1">
                <a:solidFill>
                  <a:srgbClr val="1F2937"/>
                </a:solidFill>
              </a:rPr>
              <a:t>PROFILE</a:t>
            </a:r>
            <a:r>
              <a:rPr lang="sr-Latn-RS" sz="1800" noProof="1">
                <a:solidFill>
                  <a:srgbClr val="1F2937"/>
                </a:solidFill>
              </a:rPr>
              <a:t>: password politika (expire/lock) + resursni limiti (idle/connect time).</a:t>
            </a:r>
            <a:endParaRPr lang="sr-Latn-RS" sz="1800" noProof="1"/>
          </a:p>
          <a:p>
            <a:pPr marL="177800" indent="-177800">
              <a:spcAft>
                <a:spcPts val="600"/>
              </a:spcAft>
              <a:buSzPct val="100000"/>
            </a:pPr>
            <a:r>
              <a:rPr lang="sr-Latn-RS" sz="1800" b="1" noProof="1">
                <a:solidFill>
                  <a:srgbClr val="1F2937"/>
                </a:solidFill>
              </a:rPr>
              <a:t>Account lifecycle</a:t>
            </a:r>
            <a:r>
              <a:rPr lang="sr-Latn-RS" sz="1800" noProof="1">
                <a:solidFill>
                  <a:srgbClr val="1F2937"/>
                </a:solidFill>
              </a:rPr>
              <a:t>: kreiranje → dodela rola → revizija → deaktivacija/rotacija.</a:t>
            </a:r>
            <a:endParaRPr lang="sr-Latn-RS" sz="1800" noProof="1"/>
          </a:p>
          <a:p>
            <a:pPr marL="0" indent="0">
              <a:lnSpc>
                <a:spcPts val="1800"/>
              </a:lnSpc>
              <a:spcAft>
                <a:spcPts val="600"/>
              </a:spcAft>
              <a:buNone/>
            </a:pPr>
            <a:endParaRPr lang="sr-Latn-RS" sz="1200" noProof="1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60F8D04-8F88-8454-8738-93BE67A2ADB4}"/>
              </a:ext>
            </a:extLst>
          </p:cNvPr>
          <p:cNvSpPr/>
          <p:nvPr/>
        </p:nvSpPr>
        <p:spPr>
          <a:xfrm>
            <a:off x="5786916" y="1334826"/>
            <a:ext cx="4321175" cy="262886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r>
              <a:rPr lang="sr-Latn-RS" sz="1400" noProof="1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sr-Latn-RS" sz="1400" noProof="1">
                <a:solidFill>
                  <a:srgbClr val="5CC4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sr-Latn-RS" sz="1400" noProof="1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sr-Latn-RS" sz="1400" noProof="1">
                <a:solidFill>
                  <a:srgbClr val="5CC4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</a:t>
            </a:r>
            <a:r>
              <a:rPr lang="sr-Latn-RS" sz="1400" noProof="1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sr-Latn-RS" sz="1400" noProof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app_profile </a:t>
            </a:r>
            <a:r>
              <a:rPr lang="sr-Latn-RS" sz="1400" noProof="1">
                <a:solidFill>
                  <a:srgbClr val="5CC4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</a:p>
          <a:p>
            <a:r>
              <a:rPr lang="sr-Latn-RS" sz="1400" noProof="1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sr-Latn-RS" sz="1400" noProof="1">
                <a:solidFill>
                  <a:srgbClr val="5CC4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FAILED_LOGIN_ATTEMPTS </a:t>
            </a:r>
            <a:r>
              <a:rPr lang="sr-Latn-RS" sz="1400" noProof="1">
                <a:solidFill>
                  <a:schemeClr val="accent6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</a:p>
          <a:p>
            <a:r>
              <a:rPr lang="sr-Latn-RS" sz="1400" noProof="1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sr-Latn-RS" sz="1400" noProof="1">
                <a:solidFill>
                  <a:srgbClr val="5CC4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PASSWORD_LIFE_TIME </a:t>
            </a:r>
            <a:r>
              <a:rPr lang="sr-Latn-RS" sz="1400" noProof="1">
                <a:solidFill>
                  <a:schemeClr val="accent6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</a:p>
          <a:p>
            <a:r>
              <a:rPr lang="sr-Latn-RS" sz="1400" noProof="1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sr-Latn-RS" sz="1400" noProof="1">
                <a:solidFill>
                  <a:srgbClr val="5CC4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PASSWORD_GRACE_TIME </a:t>
            </a:r>
            <a:r>
              <a:rPr lang="sr-Latn-RS" sz="1400" noProof="1">
                <a:solidFill>
                  <a:schemeClr val="accent6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</a:p>
          <a:p>
            <a:r>
              <a:rPr lang="sr-Latn-RS" sz="1400" noProof="1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sr-Latn-RS" sz="1400" noProof="1">
                <a:solidFill>
                  <a:srgbClr val="5CC4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PASSWORD_LOCK_TIME </a:t>
            </a:r>
            <a:r>
              <a:rPr lang="sr-Latn-RS" sz="1400" noProof="1">
                <a:solidFill>
                  <a:schemeClr val="accent6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1/24</a:t>
            </a:r>
          </a:p>
          <a:p>
            <a:r>
              <a:rPr lang="sr-Latn-RS" sz="1400" noProof="1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sr-Latn-RS" sz="1400" noProof="1">
                <a:solidFill>
                  <a:srgbClr val="5CC4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IDLE_TIME </a:t>
            </a:r>
            <a:r>
              <a:rPr lang="sr-Latn-RS" sz="1400" noProof="1">
                <a:solidFill>
                  <a:schemeClr val="accent6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</a:p>
          <a:p>
            <a:r>
              <a:rPr lang="sr-Latn-RS" sz="1400" noProof="1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sr-Latn-RS" sz="1400" noProof="1">
                <a:solidFill>
                  <a:srgbClr val="5CC4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CONNECT_TIME </a:t>
            </a:r>
            <a:r>
              <a:rPr lang="sr-Latn-RS" sz="1400" noProof="1">
                <a:solidFill>
                  <a:schemeClr val="accent6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240;</a:t>
            </a:r>
            <a:r>
              <a:rPr lang="sr-Latn-RS" sz="1400" noProof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sr-Latn-RS" sz="1400" noProof="1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8 -- aktivni limiti u sesiji</a:t>
            </a:r>
            <a:r>
              <a:rPr lang="sr-Latn-RS" sz="1400" noProof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sr-Latn-RS" sz="1400" noProof="1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 </a:t>
            </a:r>
            <a:r>
              <a:rPr lang="sr-Latn-RS" sz="1400" noProof="1">
                <a:solidFill>
                  <a:srgbClr val="5CC4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sr-Latn-RS" sz="1400" noProof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resource_name</a:t>
            </a:r>
            <a:r>
              <a:rPr lang="sr-Latn-RS" sz="1400" noProof="1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sr-Latn-RS" sz="1400" noProof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sr-Latn-RS" sz="1400" noProof="1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r>
              <a:rPr lang="sr-Latn-RS" sz="1400" noProof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sr-Latn-RS" sz="1400" noProof="1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sr-Latn-RS" sz="1400" noProof="1">
                <a:solidFill>
                  <a:srgbClr val="5CC4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sr-Latn-RS" sz="1400" noProof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user_resource_limits
</a:t>
            </a:r>
            <a:r>
              <a:rPr lang="sr-Latn-RS" sz="1400" noProof="1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sr-Latn-RS" sz="1400" noProof="1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r>
              <a:rPr lang="sr-Latn-RS" sz="1400" noProof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sr-Latn-RS" sz="1400" noProof="1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sr-Latn-RS" sz="1400" noProof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resource_name</a:t>
            </a:r>
            <a:r>
              <a:rPr lang="sr-Latn-RS" sz="1400" noProof="1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sr-Latn-RS" sz="1200" noProof="1"/>
          </a:p>
          <a:p>
            <a:endParaRPr lang="sr-Latn-RS" noProof="1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3031E9C-C1BB-AB11-74FB-7CB74B7B1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843" y="4102129"/>
            <a:ext cx="3191320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633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ED516-A0B4-4D09-B6A3-A788188B6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Latn-RS" b="1" noProof="1"/>
              <a:t>Autorizacija: privilegije i RBAC (Role Base Access Control)</a:t>
            </a:r>
          </a:p>
        </p:txBody>
      </p:sp>
      <p:sp>
        <p:nvSpPr>
          <p:cNvPr id="13" name="Step 1 Text" descr="Click on your 3D Model: Click and hold on the 3D control to rotate or tilt your 3D model up, down, left, and right.">
            <a:extLst>
              <a:ext uri="{FF2B5EF4-FFF2-40B4-BE49-F238E27FC236}">
                <a16:creationId xmlns:a16="http://schemas.microsoft.com/office/drawing/2014/main" id="{5294FC26-E2BF-454F-B123-404EA194A3E3}"/>
              </a:ext>
            </a:extLst>
          </p:cNvPr>
          <p:cNvSpPr txBox="1">
            <a:spLocks/>
          </p:cNvSpPr>
          <p:nvPr/>
        </p:nvSpPr>
        <p:spPr>
          <a:xfrm>
            <a:off x="630366" y="1431342"/>
            <a:ext cx="6052374" cy="49780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-177800">
              <a:spcAft>
                <a:spcPts val="600"/>
              </a:spcAft>
              <a:buSzPct val="100000"/>
            </a:pPr>
            <a:r>
              <a:rPr lang="sr-Latn-RS" sz="1800" noProof="1">
                <a:solidFill>
                  <a:srgbClr val="1F2937"/>
                </a:solidFill>
              </a:rPr>
              <a:t>Autorizacija se zasniva na:</a:t>
            </a:r>
          </a:p>
          <a:p>
            <a:pPr marL="635000" lvl="1" indent="-177800">
              <a:spcAft>
                <a:spcPts val="600"/>
              </a:spcAft>
              <a:buSzPct val="100000"/>
            </a:pPr>
            <a:r>
              <a:rPr lang="sr-Latn-RS" sz="1800" b="1" noProof="1">
                <a:solidFill>
                  <a:srgbClr val="1F2937"/>
                </a:solidFill>
              </a:rPr>
              <a:t>Sistemu privilegija </a:t>
            </a:r>
            <a:r>
              <a:rPr lang="sr-Latn-RS" sz="1800" noProof="1">
                <a:solidFill>
                  <a:srgbClr val="1F2937"/>
                </a:solidFill>
              </a:rPr>
              <a:t>(npr. CREATE SESSION)</a:t>
            </a:r>
            <a:endParaRPr lang="sr-Latn-RS" sz="1800" b="1" noProof="1">
              <a:solidFill>
                <a:srgbClr val="1F2937"/>
              </a:solidFill>
            </a:endParaRPr>
          </a:p>
          <a:p>
            <a:pPr marL="635000" lvl="1" indent="-177800">
              <a:spcAft>
                <a:spcPts val="600"/>
              </a:spcAft>
              <a:buSzPct val="100000"/>
            </a:pPr>
            <a:r>
              <a:rPr lang="sr-Latn-RS" sz="1800" b="1" noProof="1">
                <a:solidFill>
                  <a:srgbClr val="1F2937"/>
                </a:solidFill>
              </a:rPr>
              <a:t>Sistemu uloga (roles)</a:t>
            </a:r>
          </a:p>
          <a:p>
            <a:pPr marL="635000" lvl="1" indent="-177800">
              <a:spcAft>
                <a:spcPts val="600"/>
              </a:spcAft>
              <a:buSzPct val="100000"/>
            </a:pPr>
            <a:r>
              <a:rPr lang="sr-Latn-RS" sz="1800" b="1" noProof="1">
                <a:solidFill>
                  <a:srgbClr val="1F2937"/>
                </a:solidFill>
              </a:rPr>
              <a:t>Object privilegije </a:t>
            </a:r>
            <a:r>
              <a:rPr lang="sr-Latn-RS" sz="1800" noProof="1">
                <a:solidFill>
                  <a:srgbClr val="1F2937"/>
                </a:solidFill>
              </a:rPr>
              <a:t>(SELECT/INSERT nad tabelom).</a:t>
            </a:r>
            <a:endParaRPr lang="sr-Latn-RS" sz="1800" noProof="1"/>
          </a:p>
          <a:p>
            <a:pPr marL="177800" indent="-177800">
              <a:spcAft>
                <a:spcPts val="600"/>
              </a:spcAft>
              <a:buSzPct val="100000"/>
            </a:pPr>
            <a:r>
              <a:rPr lang="sr-Latn-RS" sz="1800" b="1" noProof="1"/>
              <a:t>RBAC</a:t>
            </a:r>
            <a:r>
              <a:rPr lang="sr-Latn-RS" sz="1800" noProof="1"/>
              <a:t> - model kontrole pristupa u kome se prava (privilegije) </a:t>
            </a:r>
            <a:r>
              <a:rPr lang="sr-Latn-RS" sz="1800" b="1" noProof="1"/>
              <a:t>ne dodeljuju direktno korisnicima</a:t>
            </a:r>
            <a:r>
              <a:rPr lang="sr-Latn-RS" sz="1800" noProof="1"/>
              <a:t>, već se dodeljuju </a:t>
            </a:r>
            <a:r>
              <a:rPr lang="sr-Latn-RS" sz="1800" b="1" noProof="1"/>
              <a:t>ulogama (roles)</a:t>
            </a:r>
            <a:r>
              <a:rPr lang="sr-Latn-RS" sz="1800" noProof="1"/>
              <a:t>, a zatim se te uloge dodeljuju korisnicima. </a:t>
            </a:r>
          </a:p>
          <a:p>
            <a:pPr marL="177800" indent="-177800">
              <a:spcAft>
                <a:spcPts val="600"/>
              </a:spcAft>
              <a:buSzPct val="100000"/>
            </a:pPr>
            <a:r>
              <a:rPr lang="sr-Latn-RS" sz="1800" noProof="1">
                <a:solidFill>
                  <a:srgbClr val="1F2937"/>
                </a:solidFill>
              </a:rPr>
              <a:t>Least privilege se postiže: role + samo potrebni objekti + REVOKE korekcije za oduzimanje privilegija.</a:t>
            </a:r>
            <a:endParaRPr lang="sr-Latn-RS" sz="1800" noProof="1"/>
          </a:p>
          <a:p>
            <a:pPr marL="177800" indent="-177800">
              <a:spcAft>
                <a:spcPts val="600"/>
              </a:spcAft>
              <a:buSzPct val="100000"/>
            </a:pPr>
            <a:r>
              <a:rPr lang="sr-Latn-RS" sz="1800" b="1" noProof="1">
                <a:solidFill>
                  <a:srgbClr val="1F2937"/>
                </a:solidFill>
              </a:rPr>
              <a:t>SoD</a:t>
            </a:r>
            <a:r>
              <a:rPr lang="sr-Latn-RS" sz="1800" noProof="1">
                <a:solidFill>
                  <a:srgbClr val="1F2937"/>
                </a:solidFill>
              </a:rPr>
              <a:t> (Razdvajanje dužnosti): odvojiti administrativne role od aplikacionih.</a:t>
            </a:r>
            <a:endParaRPr lang="sr-Latn-RS" sz="1800" noProof="1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1EDD053-B7BB-3856-9586-D89A88F38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155" y="1431342"/>
            <a:ext cx="5403429" cy="276270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1D26BF5-F067-8972-B53C-D8E6AE3EFB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550" y="4371086"/>
            <a:ext cx="3643422" cy="105557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6523BB2-5F51-D27B-C274-87B5F21764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2740" y="5661608"/>
            <a:ext cx="4515480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584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A3C97-E356-4FF9-AED5-879B8F991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Latn-RS" b="1" noProof="1"/>
              <a:t>Fine-Grained Access Control (FGAC/VPD)</a:t>
            </a:r>
          </a:p>
        </p:txBody>
      </p:sp>
      <p:sp>
        <p:nvSpPr>
          <p:cNvPr id="7" name="Content Placeholder Step 1" descr="Select your 3D model &gt; 3D Models Format &gt; Pan &amp; Zoom&#10;&#10;Note: the Pan &amp; Zoom tool acts like an on/off (toggle) switch. Once pressed, you’ll see a gray box around the Pan &amp; Zoom button to indicate the feature is activated. Press the button again to deactivate the Pan &amp; Zoom feature.">
            <a:extLst>
              <a:ext uri="{FF2B5EF4-FFF2-40B4-BE49-F238E27FC236}">
                <a16:creationId xmlns:a16="http://schemas.microsoft.com/office/drawing/2014/main" id="{3EE46009-9B31-417A-AB61-8C70009004B3}"/>
              </a:ext>
            </a:extLst>
          </p:cNvPr>
          <p:cNvSpPr txBox="1">
            <a:spLocks/>
          </p:cNvSpPr>
          <p:nvPr/>
        </p:nvSpPr>
        <p:spPr>
          <a:xfrm>
            <a:off x="604434" y="1853596"/>
            <a:ext cx="4394286" cy="42405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-177800">
              <a:spcAft>
                <a:spcPts val="600"/>
              </a:spcAft>
              <a:buSzPct val="100000"/>
            </a:pPr>
            <a:r>
              <a:rPr lang="sr-Latn-RS" sz="1800" b="1" noProof="1">
                <a:solidFill>
                  <a:srgbClr val="1F2937"/>
                </a:solidFill>
              </a:rPr>
              <a:t>VPD/FGAC </a:t>
            </a:r>
            <a:r>
              <a:rPr lang="sr-Latn-RS" sz="1800" noProof="1">
                <a:solidFill>
                  <a:srgbClr val="1F2937"/>
                </a:solidFill>
              </a:rPr>
              <a:t>dodaje dinamički predicate (WHERE uslov) na svaki upit.</a:t>
            </a:r>
            <a:endParaRPr lang="sr-Latn-RS" sz="1800" noProof="1"/>
          </a:p>
          <a:p>
            <a:pPr marL="177800" indent="-177800">
              <a:spcAft>
                <a:spcPts val="600"/>
              </a:spcAft>
              <a:buSzPct val="100000"/>
            </a:pPr>
            <a:r>
              <a:rPr lang="sr-Latn-RS" sz="1800" b="1" noProof="1">
                <a:solidFill>
                  <a:srgbClr val="1F2937"/>
                </a:solidFill>
              </a:rPr>
              <a:t>Kontrola je po redovima</a:t>
            </a:r>
            <a:r>
              <a:rPr lang="sr-Latn-RS" sz="1800" noProof="1">
                <a:solidFill>
                  <a:srgbClr val="1F2937"/>
                </a:solidFill>
              </a:rPr>
              <a:t>: korisnik vidi samo “svoj” podskup.</a:t>
            </a:r>
            <a:endParaRPr lang="sr-Latn-RS" sz="1800" noProof="1"/>
          </a:p>
          <a:p>
            <a:pPr marL="177800" indent="-177800">
              <a:spcAft>
                <a:spcPts val="600"/>
              </a:spcAft>
              <a:buSzPct val="100000"/>
            </a:pPr>
            <a:r>
              <a:rPr lang="sr-Latn-RS" sz="1800" noProof="1">
                <a:solidFill>
                  <a:srgbClr val="1F2937"/>
                </a:solidFill>
              </a:rPr>
              <a:t>Prednost: manje logike u aplikaciji + centralizovana politika u bazi.</a:t>
            </a:r>
            <a:endParaRPr lang="sr-Latn-RS" sz="1800" noProof="1"/>
          </a:p>
          <a:p>
            <a:pPr marL="177800" indent="-177800">
              <a:spcAft>
                <a:spcPts val="600"/>
              </a:spcAft>
              <a:buSzPct val="100000"/>
            </a:pPr>
            <a:r>
              <a:rPr lang="sr-Latn-RS" sz="1800" noProof="1">
                <a:solidFill>
                  <a:srgbClr val="1F2937"/>
                </a:solidFill>
              </a:rPr>
              <a:t>U praksi: kontekst može biti dept_id, tenant_id, region…</a:t>
            </a:r>
            <a:endParaRPr lang="sr-Latn-RS" sz="1800" noProof="1"/>
          </a:p>
          <a:p>
            <a:pPr marL="0" indent="0">
              <a:spcAft>
                <a:spcPts val="2000"/>
              </a:spcAft>
              <a:buNone/>
            </a:pPr>
            <a:br>
              <a:rPr lang="sr-Latn-RS" noProof="1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br>
              <a:rPr lang="sr-Latn-RS" noProof="1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endParaRPr lang="sr-Latn-RS" noProof="1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9345E1E-1715-D4B6-91C9-912B8C5A4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1828" y="1853596"/>
            <a:ext cx="5103763" cy="315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756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4FD4D-5161-46CF-8E5C-B36508F35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Latn-RS" b="1" noProof="1"/>
              <a:t>Auditing i monitoring</a:t>
            </a:r>
          </a:p>
        </p:txBody>
      </p:sp>
      <p:sp>
        <p:nvSpPr>
          <p:cNvPr id="7" name="Content Placeholder 17" descr="Duplicate this slide: Right-click the slide thumbnail and select Duplicate Slide.">
            <a:extLst>
              <a:ext uri="{FF2B5EF4-FFF2-40B4-BE49-F238E27FC236}">
                <a16:creationId xmlns:a16="http://schemas.microsoft.com/office/drawing/2014/main" id="{A5D11E1A-550F-4E54-82BE-B2019638DC80}"/>
              </a:ext>
            </a:extLst>
          </p:cNvPr>
          <p:cNvSpPr txBox="1">
            <a:spLocks/>
          </p:cNvSpPr>
          <p:nvPr/>
        </p:nvSpPr>
        <p:spPr>
          <a:xfrm>
            <a:off x="604434" y="1511808"/>
            <a:ext cx="11173038" cy="4650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-177800">
              <a:spcAft>
                <a:spcPts val="600"/>
              </a:spcAft>
              <a:buSzPct val="100000"/>
            </a:pPr>
            <a:r>
              <a:rPr lang="sr-Latn-RS" sz="1800" noProof="1">
                <a:solidFill>
                  <a:srgbClr val="1F2937"/>
                </a:solidFill>
              </a:rPr>
              <a:t>Zašto audit: odgovornost (accountability), detekcija anomalija, forenzika.</a:t>
            </a:r>
          </a:p>
          <a:p>
            <a:pPr lvl="0"/>
            <a:r>
              <a:rPr lang="sr-Latn-RS" sz="1600" b="1" noProof="1"/>
              <a:t>Logon/Logoff </a:t>
            </a:r>
            <a:r>
              <a:rPr lang="sr-Latn-RS" sz="1600" noProof="1"/>
              <a:t>(SESSION događaji)</a:t>
            </a:r>
            <a:r>
              <a:rPr lang="sr-Latn-RS" sz="1800" noProof="1"/>
              <a:t> - </a:t>
            </a:r>
            <a:r>
              <a:rPr lang="sr-Latn-RS" sz="1600" noProof="1"/>
              <a:t>detekcija bruteforce pokušaja, kompromitovanih naloga, neočekivanih pristupa van radnog vremena.</a:t>
            </a:r>
            <a:endParaRPr lang="sr-Latn-RS" sz="2400" noProof="1"/>
          </a:p>
          <a:p>
            <a:pPr marL="177800" indent="-177800">
              <a:spcAft>
                <a:spcPts val="600"/>
              </a:spcAft>
              <a:buSzPct val="100000"/>
            </a:pPr>
            <a:r>
              <a:rPr lang="sr-Latn-RS" sz="1800" b="1" noProof="1">
                <a:solidFill>
                  <a:srgbClr val="1F2937"/>
                </a:solidFill>
              </a:rPr>
              <a:t>DDL</a:t>
            </a:r>
            <a:r>
              <a:rPr lang="sr-Latn-RS" sz="1800" noProof="1">
                <a:solidFill>
                  <a:srgbClr val="1F2937"/>
                </a:solidFill>
              </a:rPr>
              <a:t> (CREATE/ALTER/DROP)</a:t>
            </a:r>
            <a:r>
              <a:rPr lang="sr-Latn-RS" noProof="1"/>
              <a:t> </a:t>
            </a:r>
            <a:r>
              <a:rPr lang="sr-Latn-RS" sz="1600" noProof="1"/>
              <a:t>- promene šeme često predstavljaju indikator incidenta ili greške administracije.</a:t>
            </a:r>
          </a:p>
          <a:p>
            <a:pPr lvl="0"/>
            <a:r>
              <a:rPr lang="sr-Latn-RS" sz="1600" b="1" noProof="1"/>
              <a:t>Pristup osetljivim tabelama</a:t>
            </a:r>
            <a:r>
              <a:rPr lang="sr-Latn-RS" sz="1600" noProof="1"/>
              <a:t> (npr. finansije, plate, lični podaci)</a:t>
            </a:r>
            <a:r>
              <a:rPr lang="sr-Latn-RS" sz="1800" noProof="1"/>
              <a:t> - </a:t>
            </a:r>
            <a:r>
              <a:rPr lang="sr-Latn-RS" sz="1600" noProof="1"/>
              <a:t>cilj je da se beleži ko je čitao/menjao kritične podatke.</a:t>
            </a:r>
            <a:endParaRPr lang="sr-Latn-RS" sz="3200" noProof="1"/>
          </a:p>
          <a:p>
            <a:pPr marL="177800" indent="-177800">
              <a:spcAft>
                <a:spcPts val="600"/>
              </a:spcAft>
              <a:buSzPct val="100000"/>
            </a:pPr>
            <a:r>
              <a:rPr lang="sr-Latn-RS" sz="1800" noProof="1">
                <a:solidFill>
                  <a:srgbClr val="1F2937"/>
                </a:solidFill>
              </a:rPr>
              <a:t>Unified audit centralizuje zapise (UNIFIED_AUDIT_TRAIL).</a:t>
            </a:r>
            <a:endParaRPr lang="sr-Latn-RS" sz="1800" noProof="1"/>
          </a:p>
          <a:p>
            <a:pPr marL="177800" indent="-177800">
              <a:spcAft>
                <a:spcPts val="600"/>
              </a:spcAft>
              <a:buSzPct val="100000"/>
            </a:pPr>
            <a:r>
              <a:rPr lang="sr-Latn-RS" sz="1800" noProof="1">
                <a:solidFill>
                  <a:srgbClr val="1F2937"/>
                </a:solidFill>
              </a:rPr>
              <a:t>Monitoring/SIEM: korelacija događaja + alarmiranje.</a:t>
            </a:r>
            <a:endParaRPr lang="sr-Latn-RS" sz="1800" noProof="1"/>
          </a:p>
          <a:p>
            <a:pPr marL="0" indent="0">
              <a:spcAft>
                <a:spcPts val="2000"/>
              </a:spcAft>
              <a:buNone/>
            </a:pPr>
            <a:endParaRPr lang="sr-Latn-RS" noProof="1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19B4FC8-A168-4DE3-86CF-5CACFF87C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06" y="4445954"/>
            <a:ext cx="3496163" cy="180047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B8542AB-60ED-603E-925A-D61A59B3D3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3741" y="4445955"/>
            <a:ext cx="2908723" cy="42727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BD88E69-F917-0DAB-BF8B-78624138A5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4558" y="4445954"/>
            <a:ext cx="2628900" cy="1853565"/>
          </a:xfrm>
          <a:prstGeom prst="rect">
            <a:avLst/>
          </a:prstGeom>
        </p:spPr>
      </p:pic>
      <p:sp>
        <p:nvSpPr>
          <p:cNvPr id="25" name="Try It Text" descr="Try it yourself with the parrot on the right:">
            <a:extLst>
              <a:ext uri="{FF2B5EF4-FFF2-40B4-BE49-F238E27FC236}">
                <a16:creationId xmlns:a16="http://schemas.microsoft.com/office/drawing/2014/main" id="{414E2EF8-6787-ACC0-8CEC-B5AD25029A69}"/>
              </a:ext>
            </a:extLst>
          </p:cNvPr>
          <p:cNvSpPr txBox="1">
            <a:spLocks/>
          </p:cNvSpPr>
          <p:nvPr/>
        </p:nvSpPr>
        <p:spPr>
          <a:xfrm>
            <a:off x="8189214" y="4130537"/>
            <a:ext cx="5110161" cy="47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sr-Latn-RS" noProof="1">
                <a:solidFill>
                  <a:prstClr val="black">
                    <a:lumMod val="75000"/>
                    <a:lumOff val="2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Pregled poslednjih audit događaja:</a:t>
            </a:r>
          </a:p>
        </p:txBody>
      </p:sp>
    </p:spTree>
    <p:extLst>
      <p:ext uri="{BB962C8B-B14F-4D97-AF65-F5344CB8AC3E}">
        <p14:creationId xmlns:p14="http://schemas.microsoft.com/office/powerpoint/2010/main" val="1249102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322E42-AFFD-4B81-BD7A-77AB9FC3B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Latn-RS" b="1" noProof="1"/>
              <a:t>Kriptografija i zaštita podataka</a:t>
            </a:r>
          </a:p>
        </p:txBody>
      </p:sp>
      <p:sp>
        <p:nvSpPr>
          <p:cNvPr id="6" name="Content Placeholder Step 1" descr="Select the 3D Model on the right, then go to Animations &gt; Turntable&#10;Hint: Effect Options gives you even more options for Turntable.&#10;">
            <a:extLst>
              <a:ext uri="{FF2B5EF4-FFF2-40B4-BE49-F238E27FC236}">
                <a16:creationId xmlns:a16="http://schemas.microsoft.com/office/drawing/2014/main" id="{8110C53D-9866-4A6B-9E28-68BBE6EFF866}"/>
              </a:ext>
            </a:extLst>
          </p:cNvPr>
          <p:cNvSpPr txBox="1">
            <a:spLocks/>
          </p:cNvSpPr>
          <p:nvPr/>
        </p:nvSpPr>
        <p:spPr>
          <a:xfrm>
            <a:off x="604434" y="1633728"/>
            <a:ext cx="11124270" cy="42550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-177800">
              <a:spcAft>
                <a:spcPts val="600"/>
              </a:spcAft>
              <a:buSzPct val="100000"/>
            </a:pPr>
            <a:r>
              <a:rPr lang="sr-Latn-RS" sz="1800" noProof="1">
                <a:solidFill>
                  <a:srgbClr val="1F2937"/>
                </a:solidFill>
              </a:rPr>
              <a:t>Cilj kriptografije: umanjenje rizika curenja podataka </a:t>
            </a:r>
          </a:p>
          <a:p>
            <a:pPr marL="177800" indent="-177800">
              <a:spcAft>
                <a:spcPts val="600"/>
              </a:spcAft>
              <a:buSzPct val="100000"/>
            </a:pPr>
            <a:r>
              <a:rPr lang="sr-Latn-RS" sz="1800" noProof="1">
                <a:solidFill>
                  <a:srgbClr val="1F2937"/>
                </a:solidFill>
              </a:rPr>
              <a:t>Šifrovanje u transportu – TLS/SSL (data at transit)</a:t>
            </a:r>
          </a:p>
          <a:p>
            <a:pPr marL="177800" indent="-177800">
              <a:spcAft>
                <a:spcPts val="600"/>
              </a:spcAft>
              <a:buSzPct val="100000"/>
            </a:pPr>
            <a:r>
              <a:rPr lang="sr-Latn-RS" sz="1800" noProof="1">
                <a:solidFill>
                  <a:srgbClr val="1F2937"/>
                </a:solidFill>
              </a:rPr>
              <a:t>Šifrovanje u miru (data at rest)</a:t>
            </a:r>
          </a:p>
          <a:p>
            <a:pPr marL="177800" indent="-177800">
              <a:spcAft>
                <a:spcPts val="600"/>
              </a:spcAft>
              <a:buSzPct val="100000"/>
            </a:pPr>
            <a:r>
              <a:rPr lang="sr-Latn-RS" sz="1800" b="1" noProof="1">
                <a:solidFill>
                  <a:srgbClr val="1F2937"/>
                </a:solidFill>
              </a:rPr>
              <a:t>TLS (Transport Layer Security) </a:t>
            </a:r>
            <a:r>
              <a:rPr lang="sr-Latn-RS" sz="1800" noProof="1">
                <a:solidFill>
                  <a:srgbClr val="1F2937"/>
                </a:solidFill>
              </a:rPr>
              <a:t>štiti saobraćaj (sniffing/MITM) – poverljivost i integritet u transportu.</a:t>
            </a:r>
            <a:endParaRPr lang="sr-Latn-RS" sz="1800" noProof="1"/>
          </a:p>
          <a:p>
            <a:pPr marL="177800" indent="-177800">
              <a:spcAft>
                <a:spcPts val="600"/>
              </a:spcAft>
              <a:buSzPct val="100000"/>
            </a:pPr>
            <a:r>
              <a:rPr lang="sr-Latn-RS" sz="1800" b="1" noProof="1">
                <a:solidFill>
                  <a:srgbClr val="1F2937"/>
                </a:solidFill>
              </a:rPr>
              <a:t>TDE (</a:t>
            </a:r>
            <a:r>
              <a:rPr lang="sr-Latn-RS" sz="1800" b="1" noProof="1">
                <a:solidFill>
                  <a:schemeClr val="tx1"/>
                </a:solidFill>
              </a:rPr>
              <a:t>Transparent Data Encryption ) -</a:t>
            </a:r>
            <a:r>
              <a:rPr lang="sr-Latn-RS" sz="1800" noProof="1">
                <a:solidFill>
                  <a:srgbClr val="1F2937"/>
                </a:solidFill>
              </a:rPr>
              <a:t> štiti podatke na disku (datafiles/tablespaces) – “at rest” zaštita.</a:t>
            </a:r>
            <a:endParaRPr lang="sr-Latn-RS" sz="1800" noProof="1"/>
          </a:p>
          <a:p>
            <a:pPr lvl="1"/>
            <a:r>
              <a:rPr lang="sr-Latn-RS" sz="1400" b="1" noProof="1"/>
              <a:t>TDE column encryption</a:t>
            </a:r>
            <a:r>
              <a:rPr lang="sr-Latn-RS" sz="1400" noProof="1"/>
              <a:t>: šifruju se pojedinačne kolone (granularno, ali uz određena ograničenja u performansama i indeksiranju).</a:t>
            </a:r>
          </a:p>
          <a:p>
            <a:pPr lvl="1"/>
            <a:r>
              <a:rPr lang="sr-Latn-RS" sz="1400" b="1" noProof="1"/>
              <a:t>TDE tablespace encryption</a:t>
            </a:r>
            <a:r>
              <a:rPr lang="sr-Latn-RS" sz="1400" noProof="1"/>
              <a:t>: šifruje se ceo tablespace (jednostavnije za primenu i često praktičnije u enterprise okruženju).</a:t>
            </a:r>
            <a:endParaRPr lang="sr-Latn-RS" sz="2000" noProof="1">
              <a:solidFill>
                <a:srgbClr val="1F2937"/>
              </a:solidFill>
            </a:endParaRPr>
          </a:p>
          <a:p>
            <a:pPr marL="177800" indent="-177800">
              <a:spcAft>
                <a:spcPts val="600"/>
              </a:spcAft>
              <a:buSzPct val="100000"/>
            </a:pPr>
            <a:r>
              <a:rPr lang="sr-Latn-RS" sz="1800" noProof="1">
                <a:solidFill>
                  <a:srgbClr val="1F2937"/>
                </a:solidFill>
              </a:rPr>
              <a:t>Ključevi: wallet/keystore (i po potrebi centralno: OKV).</a:t>
            </a:r>
            <a:endParaRPr lang="sr-Latn-RS" sz="1800" noProof="1"/>
          </a:p>
          <a:p>
            <a:pPr marL="177800" indent="-177800">
              <a:spcAft>
                <a:spcPts val="600"/>
              </a:spcAft>
              <a:buSzPct val="100000"/>
            </a:pPr>
            <a:r>
              <a:rPr lang="sr-Latn-RS" sz="1800" noProof="1">
                <a:solidFill>
                  <a:srgbClr val="1F2937"/>
                </a:solidFill>
              </a:rPr>
              <a:t>Backup/eksport: dump fajlovi su čest vektor curenja → enkripcija.</a:t>
            </a:r>
            <a:endParaRPr lang="sr-Latn-RS" sz="1800" noProof="1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12A8648-0528-063F-FA0B-9F2CF78EB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5223" y="5666844"/>
            <a:ext cx="5061313" cy="74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314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453059-B9E7-7CF9-D647-C7E34400C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939491"/>
            <a:ext cx="6527887" cy="4166669"/>
          </a:xfrm>
        </p:spPr>
        <p:txBody>
          <a:bodyPr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Font typeface="Segoe UI" panose="020B0502040204020203" pitchFamily="34" charset="0"/>
              <a:buChar char="•"/>
            </a:pPr>
            <a:r>
              <a:rPr lang="sr-Latn-RS" sz="1600" b="1" noProof="1"/>
              <a:t>Hardening</a:t>
            </a:r>
            <a:r>
              <a:rPr lang="sr-Latn-RS" sz="1600" noProof="1"/>
              <a:t> Oracle baze podataka - skup praktičnih mera kojima se sistem dovodi u stanje </a:t>
            </a:r>
            <a:r>
              <a:rPr lang="sr-Latn-RS" sz="1600" b="1" noProof="1"/>
              <a:t>minimalno potrebne funkcionalnosti i minimalnih privilegija</a:t>
            </a:r>
            <a:r>
              <a:rPr lang="sr-Latn-RS" sz="1600" noProof="1"/>
              <a:t>, uz doslednu kontrolu konfiguracije, pristupa i ažuriranja. </a:t>
            </a:r>
            <a:endParaRPr lang="sr-Latn-RS" sz="2000" noProof="1">
              <a:solidFill>
                <a:srgbClr val="1F2937"/>
              </a:solidFill>
            </a:endParaRP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sr-Latn-RS" sz="1600" noProof="1">
                <a:solidFill>
                  <a:srgbClr val="1F2937"/>
                </a:solidFill>
              </a:rPr>
              <a:t>Smanjiti napadnu površinu: nepotrebne opcije/privilegije OFF.</a:t>
            </a:r>
            <a:endParaRPr lang="sr-Latn-RS" sz="1600" noProof="1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sr-Latn-RS" sz="1600" noProof="1">
                <a:solidFill>
                  <a:srgbClr val="1F2937"/>
                </a:solidFill>
              </a:rPr>
              <a:t>Default nalozi: zaključati/ne koristiti, jake i različite lozinke.</a:t>
            </a:r>
            <a:endParaRPr lang="sr-Latn-RS" sz="1600" noProof="1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sr-Latn-RS" sz="1600" noProof="1">
                <a:solidFill>
                  <a:srgbClr val="1F2937"/>
                </a:solidFill>
              </a:rPr>
              <a:t>Patch management: pratiti Oracle CPU kvartalno.</a:t>
            </a:r>
            <a:endParaRPr lang="sr-Latn-RS" sz="1600" noProof="1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sr-Latn-RS" sz="1600" noProof="1">
                <a:solidFill>
                  <a:srgbClr val="1F2937"/>
                </a:solidFill>
              </a:rPr>
              <a:t>Privilegovani nalozi (SYS/SYSTEM): stroga kontrola + audit.</a:t>
            </a:r>
            <a:endParaRPr lang="sr-Latn-RS" sz="1600" noProof="1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sr-Latn-RS" sz="1600" noProof="1">
                <a:solidFill>
                  <a:srgbClr val="1F2937"/>
                </a:solidFill>
              </a:rPr>
              <a:t>Mrežna segmentacija: DB u posebnom segmentu + deny-by-default.</a:t>
            </a:r>
            <a:endParaRPr lang="sr-Latn-RS" sz="1400" noProof="1"/>
          </a:p>
          <a:p>
            <a:pPr>
              <a:buNone/>
            </a:pPr>
            <a:endParaRPr lang="sr-Latn-RS" sz="1600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EDC768-EC0C-172D-715B-BE2751E57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Latn-RS" b="1" noProof="1"/>
              <a:t>Hardening preporuke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00D639-3E6C-CC59-02D6-45ADEEF00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593" y="2293467"/>
            <a:ext cx="3466690" cy="5375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291583-3E64-26C2-B46B-C5D8663F1091}"/>
              </a:ext>
            </a:extLst>
          </p:cNvPr>
          <p:cNvSpPr txBox="1"/>
          <p:nvPr/>
        </p:nvSpPr>
        <p:spPr>
          <a:xfrm>
            <a:off x="7726593" y="1761497"/>
            <a:ext cx="3754207" cy="537587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</a:pPr>
            <a:r>
              <a:rPr lang="sr-Latn-RS" sz="1400" noProof="1"/>
              <a:t>Zaključavanje naloga koji se ne koristi: </a:t>
            </a:r>
          </a:p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endParaRPr lang="sr-Latn-RS" sz="1200" noProof="1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10B400-8A5B-2FBA-9256-7BCBEAE0E696}"/>
              </a:ext>
            </a:extLst>
          </p:cNvPr>
          <p:cNvSpPr txBox="1"/>
          <p:nvPr/>
        </p:nvSpPr>
        <p:spPr>
          <a:xfrm>
            <a:off x="7726593" y="2964734"/>
            <a:ext cx="3982718" cy="421337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sr-Latn-RS" sz="1400" noProof="1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Provera statusa naloga: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38208B-F149-9563-10D0-DF64EF23A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0098" y="3363024"/>
            <a:ext cx="5059680" cy="7737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512CCF2-92D6-B5D9-12D7-3EABE54009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3240" y="4399981"/>
            <a:ext cx="4336071" cy="1152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302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521208" y="914400"/>
            <a:ext cx="11254232" cy="1371600"/>
          </a:xfrm>
        </p:spPr>
        <p:txBody>
          <a:bodyPr>
            <a:normAutofit/>
          </a:bodyPr>
          <a:lstStyle/>
          <a:p>
            <a:pPr algn="ctr"/>
            <a:r>
              <a:rPr lang="sr-Latn-RS" sz="4800" b="1" noProof="1">
                <a:latin typeface="Segoe UI Light" panose="020B0502040204020203" pitchFamily="34" charset="0"/>
                <a:cs typeface="Segoe UI Light" panose="020B0502040204020203" pitchFamily="34" charset="0"/>
              </a:rPr>
              <a:t>HVALA NA PAŽNJI!</a:t>
            </a:r>
          </a:p>
        </p:txBody>
      </p:sp>
    </p:spTree>
    <p:extLst>
      <p:ext uri="{BB962C8B-B14F-4D97-AF65-F5344CB8AC3E}">
        <p14:creationId xmlns:p14="http://schemas.microsoft.com/office/powerpoint/2010/main" val="893025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theme/theme1.xml><?xml version="1.0" encoding="utf-8"?>
<a:theme xmlns:a="http://schemas.openxmlformats.org/drawingml/2006/main" name="Get Started with 3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f16411177_win32_fixed.potx" id="{2BE36628-40A7-4124-9B03-283680FDB08B}" vid="{1F788C18-5B90-4886-BC26-C8416480C9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{039F1641-C1C9-4CC9-83F4-457A18F8C967}TF1b6f9bfa-769c-4e44-b3db-2615999da08e4eb5ee7a_win32-a6c35a7f46f2</Template>
  <TotalTime>495</TotalTime>
  <Words>907</Words>
  <Application>Microsoft Office PowerPoint</Application>
  <PresentationFormat>Widescreen</PresentationFormat>
  <Paragraphs>100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Consolas</vt:lpstr>
      <vt:lpstr>Segoe UI</vt:lpstr>
      <vt:lpstr>Segoe UI Light</vt:lpstr>
      <vt:lpstr>Segoe UI Semibold</vt:lpstr>
      <vt:lpstr>Get Started with 3D</vt:lpstr>
      <vt:lpstr>Sigurnost baza podataka u Oracle-u</vt:lpstr>
      <vt:lpstr>UVOD</vt:lpstr>
      <vt:lpstr>Osnovni koncepti bezbednosti (CIA + principi)</vt:lpstr>
      <vt:lpstr>Pretnje i rizici</vt:lpstr>
      <vt:lpstr>Identiteti i Autentifikacija</vt:lpstr>
      <vt:lpstr>Autorizacija: privilegije i RBAC (Role Base Access Control)</vt:lpstr>
      <vt:lpstr>Fine-Grained Access Control (FGAC/VPD)</vt:lpstr>
      <vt:lpstr>Auditing i monitoring</vt:lpstr>
      <vt:lpstr>Kriptografija i zaštita podataka</vt:lpstr>
      <vt:lpstr>Hardening preporuke </vt:lpstr>
      <vt:lpstr>HVALA NA PAŽNJI!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Anastasija Vasić</dc:creator>
  <cp:lastModifiedBy>Anastasija Vasić</cp:lastModifiedBy>
  <cp:revision>2</cp:revision>
  <dcterms:created xsi:type="dcterms:W3CDTF">2026-02-17T15:37:06Z</dcterms:created>
  <dcterms:modified xsi:type="dcterms:W3CDTF">2026-03-10T19:56:45Z</dcterms:modified>
</cp:coreProperties>
</file>