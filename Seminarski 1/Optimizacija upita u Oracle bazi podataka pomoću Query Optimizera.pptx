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94" autoAdjust="0"/>
  </p:normalViewPr>
  <p:slideViewPr>
    <p:cSldViewPr snapToGrid="0">
      <p:cViewPr varScale="1">
        <p:scale>
          <a:sx n="75" d="100"/>
          <a:sy n="75" d="100"/>
        </p:scale>
        <p:origin x="9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95B57-6254-4448-A162-B109F8637DB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72731-A6CC-4392-B640-BC0569AD8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3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95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41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05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31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13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54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28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88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61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972731-A6CC-4392-B640-BC0569AD8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93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49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2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1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83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9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61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6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4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6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3637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91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0851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1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33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9B407-A318-45F9-AEAB-0F17DB287CCC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AD235DB-5F10-4746-B48D-179DCBFD3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6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7C43-283F-74B9-5401-1A85B9509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205" y="1798982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noProof="1"/>
              <a:t>Optimizacija upita u Oracle bazi podataka pomoću Query Optimizer-a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BE6A4-C647-30BF-86CD-F21284DECF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sr-Latn-RS" noProof="1"/>
          </a:p>
          <a:p>
            <a:r>
              <a:rPr lang="sr-Latn-RS" noProof="1"/>
              <a:t>Anastasija Vasić, 1848</a:t>
            </a:r>
          </a:p>
          <a:p>
            <a:r>
              <a:rPr lang="sr-Latn-RS" noProof="1"/>
              <a:t>Sistemi za upravljanje bazama podataka</a:t>
            </a:r>
          </a:p>
        </p:txBody>
      </p:sp>
    </p:spTree>
    <p:extLst>
      <p:ext uri="{BB962C8B-B14F-4D97-AF65-F5344CB8AC3E}">
        <p14:creationId xmlns:p14="http://schemas.microsoft.com/office/powerpoint/2010/main" val="255519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DF17-9783-425F-86E3-00726D4F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Sadržaj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E288B-5369-6268-18E3-A636E94D4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noProof="1"/>
              <a:t>Uvod</a:t>
            </a:r>
          </a:p>
          <a:p>
            <a:r>
              <a:rPr lang="sr-Latn-RS" noProof="1"/>
              <a:t>Značaj optimizacije upita</a:t>
            </a:r>
          </a:p>
          <a:p>
            <a:r>
              <a:rPr lang="sr-Latn-RS" noProof="1"/>
              <a:t>Oracle Query Optimizer</a:t>
            </a:r>
          </a:p>
          <a:p>
            <a:r>
              <a:rPr lang="sr-Latn-RS" noProof="1"/>
              <a:t>Cost-Based optimizacija</a:t>
            </a:r>
          </a:p>
          <a:p>
            <a:r>
              <a:rPr lang="sr-Latn-RS" noProof="1"/>
              <a:t>Statistika u Oracle bazi</a:t>
            </a:r>
          </a:p>
          <a:p>
            <a:r>
              <a:rPr lang="sr-Latn-RS" noProof="1"/>
              <a:t>Obrada SQL upita u Oracle DB</a:t>
            </a:r>
          </a:p>
          <a:p>
            <a:r>
              <a:rPr lang="sr-Latn-RS" noProof="1"/>
              <a:t>Izvršni plan</a:t>
            </a:r>
          </a:p>
          <a:p>
            <a:r>
              <a:rPr lang="sr-Latn-RS" noProof="1"/>
              <a:t>Tehnike optimizacije</a:t>
            </a:r>
          </a:p>
          <a:p>
            <a:r>
              <a:rPr lang="sr-Latn-RS" noProof="1"/>
              <a:t>Praktični primeri</a:t>
            </a:r>
          </a:p>
        </p:txBody>
      </p:sp>
    </p:spTree>
    <p:extLst>
      <p:ext uri="{BB962C8B-B14F-4D97-AF65-F5344CB8AC3E}">
        <p14:creationId xmlns:p14="http://schemas.microsoft.com/office/powerpoint/2010/main" val="160107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0F6E-63AF-1393-CE56-B110DA6A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Uvod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F8E4-1374-10E4-190E-CCED8E87E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noProof="1"/>
              <a:t>Savremeni DBMS sistemi rade sa veoma velikim količinama podataka</a:t>
            </a:r>
          </a:p>
          <a:p>
            <a:endParaRPr lang="sr-Latn-RS" noProof="1"/>
          </a:p>
          <a:p>
            <a:r>
              <a:rPr lang="sr-Latn-RS" noProof="1"/>
              <a:t>SQL upiti predstavljaju osnovni mehanizam pristupa podacima</a:t>
            </a:r>
          </a:p>
          <a:p>
            <a:endParaRPr lang="sr-Latn-RS" noProof="1"/>
          </a:p>
          <a:p>
            <a:r>
              <a:rPr lang="sr-Latn-RS" noProof="1"/>
              <a:t>Performanse sistema u velikoj meri zavise od načina izvršavanja upita</a:t>
            </a:r>
          </a:p>
          <a:p>
            <a:endParaRPr lang="sr-Latn-RS" noProof="1"/>
          </a:p>
          <a:p>
            <a:r>
              <a:rPr lang="sr-Latn-RS" noProof="1"/>
              <a:t>Neoptimizovani upiti mogu značajno usporiti rad baze podataka</a:t>
            </a:r>
          </a:p>
          <a:p>
            <a:endParaRPr lang="sr-Latn-RS" noProof="1"/>
          </a:p>
          <a:p>
            <a:r>
              <a:rPr lang="sr-Latn-RS" noProof="1"/>
              <a:t>Optimizacija upita je ključna za efikasan rad Oracle DBMS-a</a:t>
            </a:r>
          </a:p>
        </p:txBody>
      </p:sp>
    </p:spTree>
    <p:extLst>
      <p:ext uri="{BB962C8B-B14F-4D97-AF65-F5344CB8AC3E}">
        <p14:creationId xmlns:p14="http://schemas.microsoft.com/office/powerpoint/2010/main" val="145872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D529-3137-9831-5B51-8319082A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Značaj optimizacije upita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79B58-2336-4C71-A4B5-DB8431D2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986" y="1905000"/>
            <a:ext cx="9941626" cy="4316338"/>
          </a:xfrm>
        </p:spPr>
        <p:txBody>
          <a:bodyPr>
            <a:normAutofit fontScale="92500" lnSpcReduction="10000"/>
          </a:bodyPr>
          <a:lstStyle/>
          <a:p>
            <a:r>
              <a:rPr lang="sr-Latn-RS" b="1" noProof="1"/>
              <a:t>Optimizacija SQL upita - jedan od ključnih faktora koji direktno utiču na performanse sistema za upravljanje bazama podataka.</a:t>
            </a:r>
          </a:p>
          <a:p>
            <a:pPr lvl="1"/>
            <a:r>
              <a:rPr lang="sr-Latn-RS" noProof="1"/>
              <a:t>Način na koji se SQL upiti izvršavaju određuje koliko će procesorskog vremena i disk I/O operacija biti potrošeno tokom obrade podataka.</a:t>
            </a:r>
          </a:p>
          <a:p>
            <a:endParaRPr lang="sr-Latn-RS" noProof="1"/>
          </a:p>
          <a:p>
            <a:r>
              <a:rPr lang="sr-Latn-RS" b="1" noProof="1"/>
              <a:t>Neefikasno napisani ili neoptimizovani upiti mogu dovesti do nepotrebnog skeniranja velikih tabela, povećanog broja čitanja sa diska i produženog vremena izvršavanja.</a:t>
            </a:r>
          </a:p>
          <a:p>
            <a:pPr lvl="1"/>
            <a:r>
              <a:rPr lang="sr-Latn-RS" noProof="1"/>
              <a:t>Takvo ponašanje negativno utiče ne samo na pojedinačne upite, već i na ukupno opterećenje sistema i rad ostalih korisnika.</a:t>
            </a:r>
          </a:p>
          <a:p>
            <a:endParaRPr lang="sr-Latn-RS" noProof="1"/>
          </a:p>
          <a:p>
            <a:r>
              <a:rPr lang="sr-Latn-RS" b="1" noProof="1"/>
              <a:t>Pravilna optimizacija upita omogućava efikasnije korišćenje sistemskih resursa, smanjenje vremena odziva i poboljšanje skalabilnosti baze podataka.</a:t>
            </a:r>
          </a:p>
          <a:p>
            <a:pPr lvl="1"/>
            <a:r>
              <a:rPr lang="sr-Latn-RS" noProof="1"/>
              <a:t>Zbog toga optimizacija upita predstavlja osnovu za stabilan i pouzdan rad Oracle baze podataka u realnim informacionim sistemima.</a:t>
            </a:r>
          </a:p>
        </p:txBody>
      </p:sp>
    </p:spTree>
    <p:extLst>
      <p:ext uri="{BB962C8B-B14F-4D97-AF65-F5344CB8AC3E}">
        <p14:creationId xmlns:p14="http://schemas.microsoft.com/office/powerpoint/2010/main" val="277012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3E73-055E-89C2-1023-4EA070480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Oracle Query Optimizer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67DF-C0E1-3DBA-1209-B8CAE0C4D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451" y="1637413"/>
            <a:ext cx="9463161" cy="4752753"/>
          </a:xfrm>
        </p:spPr>
        <p:txBody>
          <a:bodyPr>
            <a:normAutofit fontScale="92500"/>
          </a:bodyPr>
          <a:lstStyle/>
          <a:p>
            <a:r>
              <a:rPr lang="sr-Latn-RS" b="1" noProof="1"/>
              <a:t>Oracle Query Optimizer - centralna komponenta Oracle sistema za upravljanje bazama podataka koja je zadužena za izbor načina izvršavanja SQL upita.</a:t>
            </a:r>
          </a:p>
          <a:p>
            <a:pPr lvl="1"/>
            <a:r>
              <a:rPr lang="sr-Latn-RS" noProof="1"/>
              <a:t>Njegov osnovni zadatak je da, na osnovu dostupnih informacija, pronađe najefikasniji plan izvršavanja koji će omogućiti brzo i racionalno izvršavanje upita.</a:t>
            </a:r>
          </a:p>
          <a:p>
            <a:endParaRPr lang="sr-Latn-RS" noProof="1"/>
          </a:p>
          <a:p>
            <a:r>
              <a:rPr lang="sr-Latn-RS" b="1" noProof="1"/>
              <a:t>Query Optimizer analizira SQL upit i razmatra više mogućih planova izvršavanja, koji se razlikuju po redosledu operacija, načinu pristupa tabelama i korišćenju indeksa.</a:t>
            </a:r>
          </a:p>
          <a:p>
            <a:pPr lvl="1"/>
            <a:r>
              <a:rPr lang="sr-Latn-RS" noProof="1"/>
              <a:t>Na osnovu procene troškova svakog plana, optimizator automatski bira plan sa najmanjim procenjenim troškom.</a:t>
            </a:r>
          </a:p>
          <a:p>
            <a:endParaRPr lang="sr-Latn-RS" noProof="1"/>
          </a:p>
          <a:p>
            <a:r>
              <a:rPr lang="sr-Latn-RS" b="1" noProof="1"/>
              <a:t>U savremenim verzijama Oracle baze podataka koristi se cost-based optimizator (CBO), koji svoje odluke zasniva na statističkim podacima o tabelama, kolonama i indeksima.</a:t>
            </a:r>
          </a:p>
          <a:p>
            <a:pPr lvl="1"/>
            <a:r>
              <a:rPr lang="sr-Latn-RS" noProof="1"/>
              <a:t>Zbog toga kvalitet odluka Query Optimizer-a direktno zavisi od tačnosti i ažurnosti statistike u bazi.</a:t>
            </a:r>
          </a:p>
        </p:txBody>
      </p:sp>
    </p:spTree>
    <p:extLst>
      <p:ext uri="{BB962C8B-B14F-4D97-AF65-F5344CB8AC3E}">
        <p14:creationId xmlns:p14="http://schemas.microsoft.com/office/powerpoint/2010/main" val="348767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FB05-3019-5C91-A3AF-AE171531D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Cost-Based optimizacija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6BC1-7FAC-C913-4CED-FD98613A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796901"/>
            <a:ext cx="9675812" cy="4274289"/>
          </a:xfrm>
        </p:spPr>
        <p:txBody>
          <a:bodyPr>
            <a:normAutofit/>
          </a:bodyPr>
          <a:lstStyle/>
          <a:p>
            <a:r>
              <a:rPr lang="sr-Latn-RS" b="1" noProof="1"/>
              <a:t>Cost-Based Optimizer (CBO) - mehanizam koji Oracle Query Optimizer koristi za izbor optimalnog plana izvršavanja SQL upita na osnovu procene troškova.</a:t>
            </a:r>
            <a:endParaRPr lang="sr-Latn-RS" noProof="1"/>
          </a:p>
          <a:p>
            <a:pPr lvl="1"/>
            <a:r>
              <a:rPr lang="sr-Latn-RS" noProof="1"/>
              <a:t>Za razliku od ranijih rule-based pristupa, CBO ne koristi unapred definisana pravila, već analizira konkretne karakteristike podataka u bazi.</a:t>
            </a:r>
          </a:p>
          <a:p>
            <a:pPr lvl="1"/>
            <a:endParaRPr lang="sr-Latn-RS" noProof="1"/>
          </a:p>
          <a:p>
            <a:r>
              <a:rPr lang="sr-Latn-RS" b="1" noProof="1"/>
              <a:t>Trošak izvršavanja upita procenjuje se na osnovu potrošnje sistemskih resursa, pre svega procesorskog vremena i I/O operacija nad diskom i memorijom.</a:t>
            </a:r>
            <a:endParaRPr lang="sr-Latn-RS" noProof="1"/>
          </a:p>
          <a:p>
            <a:pPr lvl="1"/>
            <a:r>
              <a:rPr lang="sr-Latn-RS" noProof="1"/>
              <a:t>CBO razmatra različite moguće planove izvršavanja i upoređuje njihove procenjene troškove.</a:t>
            </a:r>
            <a:br>
              <a:rPr lang="sr-Latn-RS" noProof="1"/>
            </a:br>
            <a:endParaRPr lang="sr-Latn-RS" noProof="1"/>
          </a:p>
          <a:p>
            <a:r>
              <a:rPr lang="sr-Latn-RS" b="1" noProof="1"/>
              <a:t>U procesu procene, CBO koristi statističke podatke o tabelama, kolonama i indeksima, kao što su broj redova, raspodela vrednosti i selektivnost predikata.</a:t>
            </a:r>
            <a:endParaRPr lang="sr-Latn-RS" noProof="1"/>
          </a:p>
          <a:p>
            <a:pPr lvl="1"/>
            <a:r>
              <a:rPr lang="sr-Latn-RS" noProof="1"/>
              <a:t>Na osnovu ovih informacija bira se plan izvršavanja sa najmanjim procenjenim troškom.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08416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51D1-A647-AC5C-6F00-51A32FD0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Statistika u Oracle bazi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89B8F-5380-1FB2-5EEC-CFBC7AE7D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921" y="1701209"/>
            <a:ext cx="9505691" cy="4369982"/>
          </a:xfrm>
        </p:spPr>
        <p:txBody>
          <a:bodyPr>
            <a:normAutofit lnSpcReduction="10000"/>
          </a:bodyPr>
          <a:lstStyle/>
          <a:p>
            <a:r>
              <a:rPr lang="sr-Latn-RS" b="1" noProof="1"/>
              <a:t>Statistički podaci u Oracle bazi predstavljaju osnovu na kojoj Cost-Based Optimizer donosi odluke o izboru plana izvršavanja SQL upita.</a:t>
            </a:r>
            <a:endParaRPr lang="sr-Latn-RS" noProof="1"/>
          </a:p>
          <a:p>
            <a:pPr lvl="1"/>
            <a:r>
              <a:rPr lang="sr-Latn-RS" noProof="1"/>
              <a:t>Ovi podaci opisuju strukturu i sadržaj tabela i indeksa i omogućavaju optimizatoru da proceni količinu podataka koja će biti obrađena tokom izvršavanja upita.</a:t>
            </a:r>
          </a:p>
          <a:p>
            <a:pPr lvl="1"/>
            <a:endParaRPr lang="sr-Latn-RS" noProof="1"/>
          </a:p>
          <a:p>
            <a:r>
              <a:rPr lang="sr-Latn-RS" b="1" noProof="1"/>
              <a:t>Statistika obuhvata informacije kao što su broj redova u tabeli, broj blokova, raspodela vrednosti u kolonama i selektivnost indeksa.</a:t>
            </a:r>
            <a:endParaRPr lang="sr-Latn-RS" noProof="1"/>
          </a:p>
          <a:p>
            <a:pPr lvl="1"/>
            <a:r>
              <a:rPr lang="sr-Latn-RS" noProof="1"/>
              <a:t>Na osnovu ovih informacija, optimizator procenjuje kardinalnost međurezultata i upoređuje troškove različitih planova izvršavanja.</a:t>
            </a:r>
          </a:p>
          <a:p>
            <a:pPr lvl="1"/>
            <a:endParaRPr lang="sr-Latn-RS" noProof="1"/>
          </a:p>
          <a:p>
            <a:r>
              <a:rPr lang="sr-Latn-RS" b="1" noProof="1"/>
              <a:t>Zastarela ili netačna statistika može dovesti do pogrešnih procena i izbora neefikasnog plana izvršavanja.</a:t>
            </a:r>
            <a:endParaRPr lang="sr-Latn-RS" noProof="1"/>
          </a:p>
          <a:p>
            <a:pPr lvl="1"/>
            <a:r>
              <a:rPr lang="sr-Latn-RS" noProof="1"/>
              <a:t>Zbog toga je redovno prikupljanje i održavanje statistike od ključnog značaja za efikasan rad Oracle Query Optimizer-a.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2640428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9868-7FC9-788F-CBB8-ACBF757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Obrada SQL upita u Oracle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2002-FF61-4AF5-A856-CCF3B8275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553" y="1743740"/>
            <a:ext cx="9495059" cy="4167482"/>
          </a:xfrm>
        </p:spPr>
        <p:txBody>
          <a:bodyPr/>
          <a:lstStyle/>
          <a:p>
            <a:r>
              <a:rPr lang="sr-Latn-RS" b="1" noProof="1"/>
              <a:t>Proces obrade SQL upita u Oracle bazi podataka sastoji se od više uzastopnih faza, od kojih svaka ima svoju ulogu u izvršavanju upita.</a:t>
            </a:r>
            <a:br>
              <a:rPr lang="sr-Latn-RS" noProof="1"/>
            </a:br>
            <a:r>
              <a:rPr lang="sr-Latn-RS" noProof="1"/>
              <a:t>Ovaj proces omogućava da se SQL upit najpre proveri, zatim optimizuje, a potom izvrši na najefikasniji mogući način.</a:t>
            </a:r>
          </a:p>
          <a:p>
            <a:pPr>
              <a:buFont typeface="+mj-lt"/>
              <a:buAutoNum type="arabicPeriod"/>
            </a:pPr>
            <a:r>
              <a:rPr lang="sr-Latn-RS" b="1" noProof="1"/>
              <a:t>Prva faza </a:t>
            </a:r>
            <a:r>
              <a:rPr lang="sr-Latn-RS" noProof="1"/>
              <a:t>obrade - </a:t>
            </a:r>
            <a:r>
              <a:rPr lang="sr-Latn-RS" b="1" noProof="1"/>
              <a:t>parsiranje</a:t>
            </a:r>
            <a:r>
              <a:rPr lang="sr-Latn-RS" noProof="1"/>
              <a:t>, tokom kojeg se proverava sintaksna ispravnost upita, kao i prava pristupa nad baznim objektima</a:t>
            </a:r>
            <a:r>
              <a:rPr lang="sr-Latn-RS" b="1" noProof="1"/>
              <a:t>. </a:t>
            </a:r>
            <a:r>
              <a:rPr lang="sr-Latn-RS" noProof="1"/>
              <a:t>U ovoj fazi se formira i logička reprezentacija upita.</a:t>
            </a:r>
          </a:p>
          <a:p>
            <a:pPr>
              <a:buFont typeface="+mj-lt"/>
              <a:buAutoNum type="arabicPeriod"/>
            </a:pPr>
            <a:r>
              <a:rPr lang="sr-Latn-RS" b="1" noProof="1"/>
              <a:t>Druga i najvažnija faza - faza optimizacije, </a:t>
            </a:r>
            <a:r>
              <a:rPr lang="sr-Latn-RS" noProof="1"/>
              <a:t>u kojoj Oracle Query Optimizer generiše i analizira više mogućih planova izvršavanja.</a:t>
            </a:r>
            <a:br>
              <a:rPr lang="sr-Latn-RS" noProof="1"/>
            </a:br>
            <a:r>
              <a:rPr lang="sr-Latn-RS" noProof="1"/>
              <a:t>Na osnovu procene troškova, bira se optimalan plan izvršavanja.</a:t>
            </a:r>
          </a:p>
          <a:p>
            <a:pPr>
              <a:buFont typeface="+mj-lt"/>
              <a:buAutoNum type="arabicPeriod"/>
            </a:pPr>
            <a:r>
              <a:rPr lang="sr-Latn-RS" noProof="1"/>
              <a:t>Nakon toga sledi </a:t>
            </a:r>
            <a:r>
              <a:rPr lang="sr-Latn-RS" b="1" noProof="1"/>
              <a:t>faza izvršavanja, </a:t>
            </a:r>
            <a:r>
              <a:rPr lang="sr-Latn-RS" noProof="1"/>
              <a:t>u kojoj se izabrani plan primenjuje nad podacima i rezultati se vraćaju korisniku.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734083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7E52-D98C-C1C8-5D79-867750C0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Izvršni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07B6D-8B92-6B44-16F3-1D81C1492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084" y="1775637"/>
            <a:ext cx="9452528" cy="4135585"/>
          </a:xfrm>
        </p:spPr>
        <p:txBody>
          <a:bodyPr/>
          <a:lstStyle/>
          <a:p>
            <a:r>
              <a:rPr lang="sr-Latn-RS" b="1" noProof="1"/>
              <a:t>Izvršni plan (Execution Plan) - </a:t>
            </a:r>
            <a:r>
              <a:rPr lang="sr-Latn-RS" noProof="1"/>
              <a:t>detaljan opis načina na koji Oracle baza podataka izvršava SQL upit.</a:t>
            </a:r>
          </a:p>
          <a:p>
            <a:pPr lvl="1"/>
            <a:r>
              <a:rPr lang="sr-Latn-RS" noProof="1"/>
              <a:t>On prikazuje redosled operacija koje će biti izvršene, kao i metode koje će Oracle koristiti za pristup podacima u tabelama i indeksima.</a:t>
            </a:r>
          </a:p>
          <a:p>
            <a:r>
              <a:rPr lang="sr-Latn-RS" noProof="1"/>
              <a:t>Izvršni plan sadrži informacije o pristupnim putevima (full table scan ili index scan), kao i o algoritmima koji se koriste za realizaciju JOIN operacija.</a:t>
            </a:r>
          </a:p>
          <a:p>
            <a:pPr lvl="1"/>
            <a:r>
              <a:rPr lang="sr-Latn-RS" noProof="1"/>
              <a:t>Pored toga, plan uključuje procene troškova i kardinalnosti za svaku fazu izvršavanja.</a:t>
            </a:r>
          </a:p>
          <a:p>
            <a:r>
              <a:rPr lang="sr-Latn-RS" b="1" noProof="1"/>
              <a:t>Analiza izvršnog plana - </a:t>
            </a:r>
            <a:r>
              <a:rPr lang="sr-Latn-RS" noProof="1"/>
              <a:t>osnovni korak u procesu optimizacije SQL upita, jer omogućava uvid u stvarno ponašanje Query Optimizer-a.</a:t>
            </a:r>
          </a:p>
          <a:p>
            <a:pPr lvl="1"/>
            <a:r>
              <a:rPr lang="sr-Latn-RS" noProof="1"/>
              <a:t>Na osnovu izvršnog plana moguće je identifikovati potencijalne probleme i primeniti odgovarajuće tehnike optimizacije.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179446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F8DD-BA86-8543-365E-C386981A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Tehnike optimizacije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605FD-35D0-EE22-B5FB-178EAD018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4493" y="1701209"/>
            <a:ext cx="9580119" cy="4210013"/>
          </a:xfrm>
        </p:spPr>
        <p:txBody>
          <a:bodyPr>
            <a:normAutofit/>
          </a:bodyPr>
          <a:lstStyle/>
          <a:p>
            <a:r>
              <a:rPr lang="sr-Latn-RS" b="1" noProof="1"/>
              <a:t>Optimizacija SQL upita </a:t>
            </a:r>
            <a:r>
              <a:rPr lang="sr-Latn-RS" noProof="1"/>
              <a:t>u Oracle bazi podataka može se postići primenom različitih tehnika koje imaju za cilj smanjenje troškova izvršavanja i efikasnije korišćenje sistemskih resursa.</a:t>
            </a:r>
          </a:p>
          <a:p>
            <a:pPr lvl="1"/>
            <a:r>
              <a:rPr lang="sr-Latn-RS" noProof="1"/>
              <a:t>Ove tehnike omogućavaju Query Optimizer-u da izabere povoljniji plan izvršavanja na osnovu dostupnih informacija.</a:t>
            </a:r>
          </a:p>
          <a:p>
            <a:r>
              <a:rPr lang="sr-Latn-RS" noProof="1"/>
              <a:t>Jedna od osnovnih tehnika optimizacije je </a:t>
            </a:r>
            <a:r>
              <a:rPr lang="sr-Latn-RS" b="1" noProof="1"/>
              <a:t>pravilno korišćenje indeksa</a:t>
            </a:r>
            <a:r>
              <a:rPr lang="sr-Latn-RS" noProof="1"/>
              <a:t>, koji omogućavaju brži pristup podacima i smanjuju potrebu za potpunim skeniranjem tabela</a:t>
            </a:r>
            <a:r>
              <a:rPr lang="sr-Latn-RS" b="1" noProof="1"/>
              <a:t>.</a:t>
            </a:r>
            <a:endParaRPr lang="sr-Latn-RS" noProof="1"/>
          </a:p>
          <a:p>
            <a:pPr lvl="1"/>
            <a:r>
              <a:rPr lang="sr-Latn-RS" noProof="1"/>
              <a:t>Pored toga, važno je pisati selektivne uslove u WHERE klauzuli i izbegavati primenu funkcija nad kolonama kada to nije neophodno.</a:t>
            </a:r>
          </a:p>
          <a:p>
            <a:r>
              <a:rPr lang="sr-Latn-RS" b="1" noProof="1"/>
              <a:t>Optimizacija složenih upita </a:t>
            </a:r>
            <a:r>
              <a:rPr lang="sr-Latn-RS" noProof="1"/>
              <a:t>podrazumeva i pravilno strukturiranje JOIN operacija, kao i redovno održavanje statistike, kako bi Cost-Based Optimizer raspolagao tačnim podacima za procenu troškova.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03300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E1C19-5169-9CE4-C7FA-484F5AC3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Praktični primer – Neoptimizovani upit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6F2A9-35A3-434B-80EC-670B1FA26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8558" y="1701208"/>
            <a:ext cx="10016054" cy="5071731"/>
          </a:xfrm>
        </p:spPr>
        <p:txBody>
          <a:bodyPr>
            <a:normAutofit/>
          </a:bodyPr>
          <a:lstStyle/>
          <a:p>
            <a:endParaRPr lang="sr-Latn-RS" b="1" noProof="1"/>
          </a:p>
          <a:p>
            <a:endParaRPr lang="sr-Latn-RS" b="1" noProof="1"/>
          </a:p>
          <a:p>
            <a:pPr marL="0" indent="0">
              <a:buNone/>
            </a:pPr>
            <a:endParaRPr lang="sr-Latn-RS" b="1" noProof="1"/>
          </a:p>
          <a:p>
            <a:pPr marL="0" indent="0">
              <a:buNone/>
            </a:pPr>
            <a:endParaRPr lang="sr-Latn-RS" b="1" noProof="1"/>
          </a:p>
          <a:p>
            <a:r>
              <a:rPr lang="sr-Latn-RS" b="1" noProof="1"/>
              <a:t>Merenje performansi (AUTOTRACE):</a:t>
            </a:r>
            <a:endParaRPr lang="sr-Latn-RS" noProof="1"/>
          </a:p>
          <a:p>
            <a:pPr lvl="1"/>
            <a:r>
              <a:rPr lang="sr-Latn-RS" noProof="1"/>
              <a:t>Elapsed time: </a:t>
            </a:r>
            <a:r>
              <a:rPr lang="sr-Latn-RS" b="1" noProof="1"/>
              <a:t>0,048 s</a:t>
            </a:r>
          </a:p>
          <a:p>
            <a:pPr lvl="1"/>
            <a:r>
              <a:rPr lang="sr-Latn-RS" noProof="1"/>
              <a:t>consistent gets (logička čitanja / opterećenje buffer cache): </a:t>
            </a:r>
            <a:r>
              <a:rPr lang="sr-Latn-RS" b="1" noProof="1"/>
              <a:t>2900</a:t>
            </a:r>
          </a:p>
          <a:p>
            <a:pPr lvl="1"/>
            <a:r>
              <a:rPr lang="sr-Latn-RS" noProof="1"/>
              <a:t>physical reads (fizička čitanja sa diska): 0</a:t>
            </a:r>
          </a:p>
          <a:p>
            <a:r>
              <a:rPr lang="sr-Latn-RS" b="1" noProof="1"/>
              <a:t>Plan izvršavanja (PRE):</a:t>
            </a:r>
            <a:endParaRPr lang="sr-Latn-RS" noProof="1"/>
          </a:p>
          <a:p>
            <a:pPr lvl="1"/>
            <a:r>
              <a:rPr lang="sr-Latn-RS" noProof="1"/>
              <a:t>HASH JOIN</a:t>
            </a:r>
          </a:p>
          <a:p>
            <a:pPr lvl="1"/>
            <a:r>
              <a:rPr lang="sr-Latn-RS" noProof="1"/>
              <a:t>TABLE ACCESS FULL nad CUSTOMERS</a:t>
            </a:r>
          </a:p>
          <a:p>
            <a:pPr lvl="1"/>
            <a:r>
              <a:rPr lang="sr-Latn-RS" noProof="1"/>
              <a:t>TABLE ACCESS FULL nad SALES</a:t>
            </a:r>
            <a:br>
              <a:rPr lang="sr-Latn-RS" noProof="1"/>
            </a:br>
            <a:r>
              <a:rPr lang="sr-Latn-RS" noProof="1"/>
              <a:t>→ veći broj obrađenih blokova i veće logičko opterećenje</a:t>
            </a:r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8728B-9374-6314-98F4-E681266FE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97" y="1701208"/>
            <a:ext cx="574089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36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BE4E-D738-E37F-EC94-3D31F764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noProof="1"/>
              <a:t>Praktični primer – Optimizovani upit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E868-50AA-2D93-B546-EF9B5693D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8066" y="1905000"/>
            <a:ext cx="4972254" cy="4006222"/>
          </a:xfrm>
        </p:spPr>
        <p:txBody>
          <a:bodyPr>
            <a:normAutofit/>
          </a:bodyPr>
          <a:lstStyle/>
          <a:p>
            <a:r>
              <a:rPr lang="sr-Latn-RS" noProof="1"/>
              <a:t>Primena optimizacije (indeksi + statistika):</a:t>
            </a:r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E78E7-5752-498B-C035-4D529BF81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862" y="1897622"/>
            <a:ext cx="5698658" cy="4006222"/>
          </a:xfrm>
        </p:spPr>
        <p:txBody>
          <a:bodyPr>
            <a:normAutofit/>
          </a:bodyPr>
          <a:lstStyle/>
          <a:p>
            <a:r>
              <a:rPr lang="sr-Latn-RS" b="1" noProof="1"/>
              <a:t>Plan izvršavanja (POSLE):</a:t>
            </a:r>
            <a:endParaRPr lang="sr-Latn-RS" noProof="1"/>
          </a:p>
          <a:p>
            <a:pPr lvl="1"/>
            <a:r>
              <a:rPr lang="sr-Latn-RS" noProof="1"/>
              <a:t>HASH JOIN (algoritam ostaje optimalan)</a:t>
            </a:r>
          </a:p>
          <a:p>
            <a:pPr lvl="1"/>
            <a:r>
              <a:rPr lang="sr-Latn-RS" noProof="1"/>
              <a:t>INDEX RANGE SCAN nad IDX_SALES_DATE_CUST</a:t>
            </a:r>
          </a:p>
          <a:p>
            <a:pPr lvl="1"/>
            <a:r>
              <a:rPr lang="sr-Latn-RS" noProof="1"/>
              <a:t>INDEX FAST FULL SCAN nad IDX_CUSTOMERS_STATUS_ID</a:t>
            </a:r>
            <a:br>
              <a:rPr lang="sr-Latn-RS" noProof="1"/>
            </a:br>
            <a:r>
              <a:rPr lang="sr-Latn-RS" noProof="1"/>
              <a:t>→ znatno manji cost i manji broj logičkih čitanja</a:t>
            </a:r>
          </a:p>
          <a:p>
            <a:r>
              <a:rPr lang="sr-Latn-RS" b="1" noProof="1"/>
              <a:t>Merenje (POSLE):</a:t>
            </a:r>
            <a:endParaRPr lang="sr-Latn-RS" noProof="1"/>
          </a:p>
          <a:p>
            <a:pPr lvl="1"/>
            <a:r>
              <a:rPr lang="sr-Latn-RS" noProof="1"/>
              <a:t>Elapsed time: </a:t>
            </a:r>
            <a:r>
              <a:rPr lang="sr-Latn-RS" b="1" noProof="1"/>
              <a:t>0,04 s</a:t>
            </a:r>
            <a:endParaRPr lang="sr-Latn-RS" noProof="1"/>
          </a:p>
          <a:p>
            <a:pPr lvl="1"/>
            <a:r>
              <a:rPr lang="sr-Latn-RS" noProof="1"/>
              <a:t>consistent gets: </a:t>
            </a:r>
            <a:r>
              <a:rPr lang="sr-Latn-RS" b="1" noProof="1"/>
              <a:t>485</a:t>
            </a:r>
            <a:r>
              <a:rPr lang="sr-Latn-RS" noProof="1"/>
              <a:t> (pad sa 2900 → 485)</a:t>
            </a:r>
          </a:p>
          <a:p>
            <a:endParaRPr lang="sr-Latn-R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AD2F4-0754-545F-7041-74A02B3C7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66" y="2665790"/>
            <a:ext cx="4810796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07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50624E-5735-79B0-11C4-9F27987F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78855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sr-Latn-RS" sz="5400" noProof="1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40596310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8865</TotalTime>
  <Words>1123</Words>
  <Application>Microsoft Office PowerPoint</Application>
  <PresentationFormat>Widescreen</PresentationFormat>
  <Paragraphs>119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Wisp</vt:lpstr>
      <vt:lpstr>Optimizacija upita u Oracle bazi podataka pomoću Query Optimizer-a</vt:lpstr>
      <vt:lpstr>Sadržaj</vt:lpstr>
      <vt:lpstr>Uvod</vt:lpstr>
      <vt:lpstr>Značaj optimizacije upita</vt:lpstr>
      <vt:lpstr>Oracle Query Optimizer</vt:lpstr>
      <vt:lpstr>Cost-Based optimizacija</vt:lpstr>
      <vt:lpstr>Statistika u Oracle bazi</vt:lpstr>
      <vt:lpstr>Obrada SQL upita u Oracle DB</vt:lpstr>
      <vt:lpstr>Izvršni plan</vt:lpstr>
      <vt:lpstr>Tehnike optimizacije</vt:lpstr>
      <vt:lpstr>Praktični primer – Neoptimizovani upit</vt:lpstr>
      <vt:lpstr>Praktični primer – Optimizovani upit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Anastasija Vasić</dc:creator>
  <cp:lastModifiedBy>Anastasija Vasić</cp:lastModifiedBy>
  <cp:revision>4</cp:revision>
  <dcterms:created xsi:type="dcterms:W3CDTF">2026-02-04T19:13:44Z</dcterms:created>
  <dcterms:modified xsi:type="dcterms:W3CDTF">2026-03-10T18:55:15Z</dcterms:modified>
</cp:coreProperties>
</file>